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Crimson Roman" charset="1" panose="02030503060406020304"/>
      <p:regular r:id="rId30"/>
    </p:embeddedFont>
    <p:embeddedFont>
      <p:font typeface="Montserrat Bold" charset="1" panose="00000800000000000000"/>
      <p:regular r:id="rId31"/>
    </p:embeddedFont>
    <p:embeddedFont>
      <p:font typeface="Montserrat" charset="1" panose="00000500000000000000"/>
      <p:regular r:id="rId32"/>
    </p:embeddedFont>
    <p:embeddedFont>
      <p:font typeface="Crimson Roman Bold" charset="1" panose="02000703000000000000"/>
      <p:regular r:id="rId33"/>
    </p:embeddedFont>
    <p:embeddedFont>
      <p:font typeface="Asap Bold" charset="1" panose="020F0804030202060203"/>
      <p:regular r:id="rId34"/>
    </p:embeddedFont>
    <p:embeddedFont>
      <p:font typeface="Asap" charset="1" panose="020F0504030202060203"/>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 Id="rId9"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media/image1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54629" y="2915951"/>
            <a:ext cx="6312619" cy="6342349"/>
          </a:xfrm>
          <a:custGeom>
            <a:avLst/>
            <a:gdLst/>
            <a:ahLst/>
            <a:cxnLst/>
            <a:rect r="r" b="b" t="t" l="l"/>
            <a:pathLst>
              <a:path h="6342349" w="6312619">
                <a:moveTo>
                  <a:pt x="0" y="0"/>
                </a:moveTo>
                <a:lnTo>
                  <a:pt x="6312619" y="0"/>
                </a:lnTo>
                <a:lnTo>
                  <a:pt x="6312619" y="6342349"/>
                </a:lnTo>
                <a:lnTo>
                  <a:pt x="0" y="6342349"/>
                </a:lnTo>
                <a:lnTo>
                  <a:pt x="0" y="0"/>
                </a:lnTo>
                <a:close/>
              </a:path>
            </a:pathLst>
          </a:custGeom>
          <a:blipFill>
            <a:blip r:embed="rId2"/>
            <a:stretch>
              <a:fillRect l="0" t="0" r="0" b="0"/>
            </a:stretch>
          </a:blipFill>
        </p:spPr>
      </p:sp>
      <p:sp>
        <p:nvSpPr>
          <p:cNvPr name="TextBox 3" id="3"/>
          <p:cNvSpPr txBox="true"/>
          <p:nvPr/>
        </p:nvSpPr>
        <p:spPr>
          <a:xfrm rot="0">
            <a:off x="1680278" y="4251976"/>
            <a:ext cx="4343121" cy="3546661"/>
          </a:xfrm>
          <a:prstGeom prst="rect">
            <a:avLst/>
          </a:prstGeom>
        </p:spPr>
        <p:txBody>
          <a:bodyPr anchor="t" rtlCol="false" tIns="0" lIns="0" bIns="0" rIns="0">
            <a:spAutoFit/>
          </a:bodyPr>
          <a:lstStyle/>
          <a:p>
            <a:pPr algn="just">
              <a:lnSpc>
                <a:spcPts val="5599"/>
              </a:lnSpc>
            </a:pPr>
            <a:r>
              <a:rPr lang="en-US" sz="3999">
                <a:solidFill>
                  <a:srgbClr val="000000"/>
                </a:solidFill>
                <a:latin typeface="Crimson Roman"/>
                <a:ea typeface="Crimson Roman"/>
                <a:cs typeface="Crimson Roman"/>
                <a:sym typeface="Crimson Roman"/>
              </a:rPr>
              <a:t>Group 3:</a:t>
            </a:r>
          </a:p>
          <a:p>
            <a:pPr algn="just">
              <a:lnSpc>
                <a:spcPts val="5599"/>
              </a:lnSpc>
            </a:pPr>
            <a:r>
              <a:rPr lang="en-US" sz="3999">
                <a:solidFill>
                  <a:srgbClr val="000000"/>
                </a:solidFill>
                <a:latin typeface="Crimson Roman"/>
                <a:ea typeface="Crimson Roman"/>
                <a:cs typeface="Crimson Roman"/>
                <a:sym typeface="Crimson Roman"/>
              </a:rPr>
              <a:t>Bùi Trịnh Thế Viên </a:t>
            </a:r>
          </a:p>
          <a:p>
            <a:pPr algn="just">
              <a:lnSpc>
                <a:spcPts val="5599"/>
              </a:lnSpc>
            </a:pPr>
            <a:r>
              <a:rPr lang="en-US" sz="3999">
                <a:solidFill>
                  <a:srgbClr val="000000"/>
                </a:solidFill>
                <a:latin typeface="Crimson Roman"/>
                <a:ea typeface="Crimson Roman"/>
                <a:cs typeface="Crimson Roman"/>
                <a:sym typeface="Crimson Roman"/>
              </a:rPr>
              <a:t>Trần Đăng Bách</a:t>
            </a:r>
          </a:p>
          <a:p>
            <a:pPr algn="just">
              <a:lnSpc>
                <a:spcPts val="5599"/>
              </a:lnSpc>
            </a:pPr>
            <a:r>
              <a:rPr lang="en-US" sz="3999">
                <a:solidFill>
                  <a:srgbClr val="000000"/>
                </a:solidFill>
                <a:latin typeface="Crimson Roman"/>
                <a:ea typeface="Crimson Roman"/>
                <a:cs typeface="Crimson Roman"/>
                <a:sym typeface="Crimson Roman"/>
              </a:rPr>
              <a:t>Nguyễn Văn Quý</a:t>
            </a:r>
          </a:p>
          <a:p>
            <a:pPr algn="just">
              <a:lnSpc>
                <a:spcPts val="5599"/>
              </a:lnSpc>
              <a:spcBef>
                <a:spcPct val="0"/>
              </a:spcBef>
            </a:pPr>
            <a:r>
              <a:rPr lang="en-US" sz="3999">
                <a:solidFill>
                  <a:srgbClr val="000000"/>
                </a:solidFill>
                <a:latin typeface="Crimson Roman"/>
                <a:ea typeface="Crimson Roman"/>
                <a:cs typeface="Crimson Roman"/>
                <a:sym typeface="Crimson Roman"/>
              </a:rPr>
              <a:t>Nguyễn Trọng Nhân</a:t>
            </a:r>
          </a:p>
        </p:txBody>
      </p:sp>
      <p:sp>
        <p:nvSpPr>
          <p:cNvPr name="TextBox 4" id="4"/>
          <p:cNvSpPr txBox="true"/>
          <p:nvPr/>
        </p:nvSpPr>
        <p:spPr>
          <a:xfrm rot="0">
            <a:off x="2574748" y="377456"/>
            <a:ext cx="12298030" cy="2162175"/>
          </a:xfrm>
          <a:prstGeom prst="rect">
            <a:avLst/>
          </a:prstGeom>
        </p:spPr>
        <p:txBody>
          <a:bodyPr anchor="t" rtlCol="false" tIns="0" lIns="0" bIns="0" rIns="0">
            <a:spAutoFit/>
          </a:bodyPr>
          <a:lstStyle/>
          <a:p>
            <a:pPr algn="ctr">
              <a:lnSpc>
                <a:spcPts val="8400"/>
              </a:lnSpc>
            </a:pPr>
            <a:r>
              <a:rPr lang="en-US" sz="6000">
                <a:solidFill>
                  <a:srgbClr val="000000"/>
                </a:solidFill>
                <a:latin typeface="Crimson Roman"/>
                <a:ea typeface="Crimson Roman"/>
                <a:cs typeface="Crimson Roman"/>
                <a:sym typeface="Crimson Roman"/>
              </a:rPr>
              <a:t>Embedded Systems</a:t>
            </a:r>
          </a:p>
          <a:p>
            <a:pPr algn="ctr">
              <a:lnSpc>
                <a:spcPts val="8400"/>
              </a:lnSpc>
              <a:spcBef>
                <a:spcPct val="0"/>
              </a:spcBef>
            </a:pPr>
            <a:r>
              <a:rPr lang="en-US" sz="6000">
                <a:solidFill>
                  <a:srgbClr val="000000"/>
                </a:solidFill>
                <a:latin typeface="Crimson Roman"/>
                <a:ea typeface="Crimson Roman"/>
                <a:cs typeface="Crimson Roman"/>
                <a:sym typeface="Crimson Roman"/>
              </a:rPr>
              <a:t>Restaurant Delivery Robot</a:t>
            </a:r>
          </a:p>
        </p:txBody>
      </p:sp>
      <p:sp>
        <p:nvSpPr>
          <p:cNvPr name="Freeform 5" id="5"/>
          <p:cNvSpPr/>
          <p:nvPr/>
        </p:nvSpPr>
        <p:spPr>
          <a:xfrm flipH="false" flipV="false" rot="0">
            <a:off x="576416" y="558431"/>
            <a:ext cx="1586467" cy="1586467"/>
          </a:xfrm>
          <a:custGeom>
            <a:avLst/>
            <a:gdLst/>
            <a:ahLst/>
            <a:cxnLst/>
            <a:rect r="r" b="b" t="t" l="l"/>
            <a:pathLst>
              <a:path h="1586467" w="1586467">
                <a:moveTo>
                  <a:pt x="0" y="0"/>
                </a:moveTo>
                <a:lnTo>
                  <a:pt x="1586467" y="0"/>
                </a:lnTo>
                <a:lnTo>
                  <a:pt x="1586467" y="1586466"/>
                </a:lnTo>
                <a:lnTo>
                  <a:pt x="0" y="1586466"/>
                </a:lnTo>
                <a:lnTo>
                  <a:pt x="0" y="0"/>
                </a:lnTo>
                <a:close/>
              </a:path>
            </a:pathLst>
          </a:custGeom>
          <a:blipFill>
            <a:blip r:embed="rId3"/>
            <a:stretch>
              <a:fillRect l="0" t="0" r="0" b="0"/>
            </a:stretch>
          </a:blipFill>
        </p:spPr>
      </p:sp>
      <p:sp>
        <p:nvSpPr>
          <p:cNvPr name="Freeform 6" id="6"/>
          <p:cNvSpPr/>
          <p:nvPr/>
        </p:nvSpPr>
        <p:spPr>
          <a:xfrm flipH="false" flipV="false" rot="0">
            <a:off x="15560155" y="715190"/>
            <a:ext cx="1699145" cy="1667533"/>
          </a:xfrm>
          <a:custGeom>
            <a:avLst/>
            <a:gdLst/>
            <a:ahLst/>
            <a:cxnLst/>
            <a:rect r="r" b="b" t="t" l="l"/>
            <a:pathLst>
              <a:path h="1667533" w="1699145">
                <a:moveTo>
                  <a:pt x="0" y="0"/>
                </a:moveTo>
                <a:lnTo>
                  <a:pt x="1699145" y="0"/>
                </a:lnTo>
                <a:lnTo>
                  <a:pt x="1699145" y="1667533"/>
                </a:lnTo>
                <a:lnTo>
                  <a:pt x="0" y="1667533"/>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304925"/>
            <a:ext cx="16230600" cy="9629105"/>
          </a:xfrm>
          <a:prstGeom prst="rect">
            <a:avLst/>
          </a:prstGeom>
        </p:spPr>
        <p:txBody>
          <a:bodyPr anchor="t" rtlCol="false" tIns="0" lIns="0" bIns="0" rIns="0">
            <a:spAutoFit/>
          </a:bodyPr>
          <a:lstStyle/>
          <a:p>
            <a:pPr algn="l">
              <a:lnSpc>
                <a:spcPts val="8400"/>
              </a:lnSpc>
            </a:pPr>
            <a:r>
              <a:rPr lang="en-US" sz="6000">
                <a:solidFill>
                  <a:srgbClr val="000000"/>
                </a:solidFill>
                <a:latin typeface="Crimson Roman"/>
                <a:ea typeface="Crimson Roman"/>
                <a:cs typeface="Crimson Roman"/>
                <a:sym typeface="Crimson Roman"/>
              </a:rPr>
              <a:t>Table of Contents:</a:t>
            </a:r>
          </a:p>
          <a:p>
            <a:pPr algn="l" marL="1295400" indent="-647700" lvl="1">
              <a:lnSpc>
                <a:spcPts val="8400"/>
              </a:lnSpc>
              <a:buAutoNum type="arabicPeriod" startAt="1"/>
            </a:pPr>
            <a:r>
              <a:rPr lang="en-US" sz="6000">
                <a:solidFill>
                  <a:srgbClr val="000000"/>
                </a:solidFill>
                <a:latin typeface="Crimson Roman"/>
                <a:ea typeface="Crimson Roman"/>
                <a:cs typeface="Crimson Roman"/>
                <a:sym typeface="Crimson Roman"/>
              </a:rPr>
              <a:t>Introduction (overview + objectives)</a:t>
            </a:r>
          </a:p>
          <a:p>
            <a:pPr algn="l" marL="1295400" indent="-647700" lvl="1">
              <a:lnSpc>
                <a:spcPts val="8400"/>
              </a:lnSpc>
              <a:buAutoNum type="arabicPeriod" startAt="1"/>
            </a:pPr>
            <a:r>
              <a:rPr lang="en-US" sz="6000">
                <a:solidFill>
                  <a:srgbClr val="000000"/>
                </a:solidFill>
                <a:latin typeface="Crimson Roman"/>
                <a:ea typeface="Crimson Roman"/>
                <a:cs typeface="Crimson Roman"/>
                <a:sym typeface="Crimson Roman"/>
              </a:rPr>
              <a:t>System Architecture &amp; Flowchart Diagrams</a:t>
            </a:r>
          </a:p>
          <a:p>
            <a:pPr algn="l" marL="1295400" indent="-647700" lvl="1">
              <a:lnSpc>
                <a:spcPts val="8400"/>
              </a:lnSpc>
              <a:buAutoNum type="arabicPeriod" startAt="1"/>
            </a:pPr>
            <a:r>
              <a:rPr lang="en-US" sz="6000">
                <a:solidFill>
                  <a:srgbClr val="000000"/>
                </a:solidFill>
                <a:latin typeface="Crimson Roman"/>
                <a:ea typeface="Crimson Roman"/>
                <a:cs typeface="Crimson Roman"/>
                <a:sym typeface="Crimson Roman"/>
              </a:rPr>
              <a:t>Use Case Diagram</a:t>
            </a:r>
          </a:p>
          <a:p>
            <a:pPr algn="l" marL="1295400" indent="-647700" lvl="1">
              <a:lnSpc>
                <a:spcPts val="8400"/>
              </a:lnSpc>
              <a:buAutoNum type="arabicPeriod" startAt="1"/>
            </a:pPr>
            <a:r>
              <a:rPr lang="en-US" sz="6000">
                <a:solidFill>
                  <a:srgbClr val="000000"/>
                </a:solidFill>
                <a:latin typeface="Crimson Roman"/>
                <a:ea typeface="Crimson Roman"/>
                <a:cs typeface="Crimson Roman"/>
                <a:sym typeface="Crimson Roman"/>
              </a:rPr>
              <a:t>Timeline</a:t>
            </a:r>
          </a:p>
          <a:p>
            <a:pPr algn="l" marL="1295400" indent="-647700" lvl="1">
              <a:lnSpc>
                <a:spcPts val="8400"/>
              </a:lnSpc>
              <a:buAutoNum type="arabicPeriod" startAt="1"/>
            </a:pPr>
            <a:r>
              <a:rPr lang="en-US" sz="6000">
                <a:solidFill>
                  <a:srgbClr val="000000"/>
                </a:solidFill>
                <a:latin typeface="Crimson Roman"/>
                <a:ea typeface="Crimson Roman"/>
                <a:cs typeface="Crimson Roman"/>
                <a:sym typeface="Crimson Roman"/>
              </a:rPr>
              <a:t>Project Task Allocation (tasks + contribution percentage)</a:t>
            </a:r>
          </a:p>
          <a:p>
            <a:pPr algn="l">
              <a:lnSpc>
                <a:spcPts val="8400"/>
              </a:lnSpc>
            </a:pPr>
          </a:p>
          <a:p>
            <a:pPr algn="l" marL="0" indent="0" lvl="0">
              <a:lnSpc>
                <a:spcPts val="84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485126" y="2229034"/>
            <a:ext cx="2979193" cy="2979193"/>
          </a:xfrm>
          <a:custGeom>
            <a:avLst/>
            <a:gdLst/>
            <a:ahLst/>
            <a:cxnLst/>
            <a:rect r="r" b="b" t="t" l="l"/>
            <a:pathLst>
              <a:path h="2979193" w="2979193">
                <a:moveTo>
                  <a:pt x="0" y="0"/>
                </a:moveTo>
                <a:lnTo>
                  <a:pt x="2979193" y="0"/>
                </a:lnTo>
                <a:lnTo>
                  <a:pt x="2979193" y="2979193"/>
                </a:lnTo>
                <a:lnTo>
                  <a:pt x="0" y="2979193"/>
                </a:lnTo>
                <a:lnTo>
                  <a:pt x="0" y="0"/>
                </a:lnTo>
                <a:close/>
              </a:path>
            </a:pathLst>
          </a:custGeom>
          <a:blipFill>
            <a:blip r:embed="rId2"/>
            <a:stretch>
              <a:fillRect l="0" t="0" r="0" b="0"/>
            </a:stretch>
          </a:blipFill>
        </p:spPr>
      </p:sp>
      <p:sp>
        <p:nvSpPr>
          <p:cNvPr name="Freeform 3" id="3"/>
          <p:cNvSpPr/>
          <p:nvPr/>
        </p:nvSpPr>
        <p:spPr>
          <a:xfrm flipH="false" flipV="false" rot="0">
            <a:off x="13607929" y="2424054"/>
            <a:ext cx="3006221" cy="3006221"/>
          </a:xfrm>
          <a:custGeom>
            <a:avLst/>
            <a:gdLst/>
            <a:ahLst/>
            <a:cxnLst/>
            <a:rect r="r" b="b" t="t" l="l"/>
            <a:pathLst>
              <a:path h="3006221" w="3006221">
                <a:moveTo>
                  <a:pt x="0" y="0"/>
                </a:moveTo>
                <a:lnTo>
                  <a:pt x="3006221" y="0"/>
                </a:lnTo>
                <a:lnTo>
                  <a:pt x="3006221" y="3006220"/>
                </a:lnTo>
                <a:lnTo>
                  <a:pt x="0" y="3006220"/>
                </a:lnTo>
                <a:lnTo>
                  <a:pt x="0" y="0"/>
                </a:lnTo>
                <a:close/>
              </a:path>
            </a:pathLst>
          </a:custGeom>
          <a:blipFill>
            <a:blip r:embed="rId3"/>
            <a:stretch>
              <a:fillRect l="0" t="0" r="0" b="0"/>
            </a:stretch>
          </a:blipFill>
        </p:spPr>
      </p:sp>
      <p:sp>
        <p:nvSpPr>
          <p:cNvPr name="Freeform 4" id="4"/>
          <p:cNvSpPr/>
          <p:nvPr/>
        </p:nvSpPr>
        <p:spPr>
          <a:xfrm flipH="false" flipV="false" rot="0">
            <a:off x="1342051" y="2518619"/>
            <a:ext cx="2755392" cy="2400023"/>
          </a:xfrm>
          <a:custGeom>
            <a:avLst/>
            <a:gdLst/>
            <a:ahLst/>
            <a:cxnLst/>
            <a:rect r="r" b="b" t="t" l="l"/>
            <a:pathLst>
              <a:path h="2400023" w="2755392">
                <a:moveTo>
                  <a:pt x="0" y="0"/>
                </a:moveTo>
                <a:lnTo>
                  <a:pt x="2755392" y="0"/>
                </a:lnTo>
                <a:lnTo>
                  <a:pt x="2755392" y="2400024"/>
                </a:lnTo>
                <a:lnTo>
                  <a:pt x="0" y="2400024"/>
                </a:lnTo>
                <a:lnTo>
                  <a:pt x="0" y="0"/>
                </a:lnTo>
                <a:close/>
              </a:path>
            </a:pathLst>
          </a:custGeom>
          <a:blipFill>
            <a:blip r:embed="rId4"/>
            <a:stretch>
              <a:fillRect l="0" t="0" r="0" b="0"/>
            </a:stretch>
          </a:blipFill>
        </p:spPr>
      </p:sp>
      <p:sp>
        <p:nvSpPr>
          <p:cNvPr name="Freeform 5" id="5"/>
          <p:cNvSpPr/>
          <p:nvPr/>
        </p:nvSpPr>
        <p:spPr>
          <a:xfrm flipH="false" flipV="false" rot="0">
            <a:off x="1480923" y="6217111"/>
            <a:ext cx="1962772" cy="1962772"/>
          </a:xfrm>
          <a:custGeom>
            <a:avLst/>
            <a:gdLst/>
            <a:ahLst/>
            <a:cxnLst/>
            <a:rect r="r" b="b" t="t" l="l"/>
            <a:pathLst>
              <a:path h="1962772" w="1962772">
                <a:moveTo>
                  <a:pt x="0" y="0"/>
                </a:moveTo>
                <a:lnTo>
                  <a:pt x="1962771" y="0"/>
                </a:lnTo>
                <a:lnTo>
                  <a:pt x="1962771" y="1962772"/>
                </a:lnTo>
                <a:lnTo>
                  <a:pt x="0" y="1962772"/>
                </a:lnTo>
                <a:lnTo>
                  <a:pt x="0" y="0"/>
                </a:lnTo>
                <a:close/>
              </a:path>
            </a:pathLst>
          </a:custGeom>
          <a:blipFill>
            <a:blip r:embed="rId5"/>
            <a:stretch>
              <a:fillRect l="0" t="0" r="0" b="0"/>
            </a:stretch>
          </a:blipFill>
        </p:spPr>
      </p:sp>
      <p:sp>
        <p:nvSpPr>
          <p:cNvPr name="Freeform 6" id="6"/>
          <p:cNvSpPr/>
          <p:nvPr/>
        </p:nvSpPr>
        <p:spPr>
          <a:xfrm flipH="false" flipV="false" rot="0">
            <a:off x="9787451" y="6062514"/>
            <a:ext cx="2374544" cy="2374544"/>
          </a:xfrm>
          <a:custGeom>
            <a:avLst/>
            <a:gdLst/>
            <a:ahLst/>
            <a:cxnLst/>
            <a:rect r="r" b="b" t="t" l="l"/>
            <a:pathLst>
              <a:path h="2374544" w="2374544">
                <a:moveTo>
                  <a:pt x="0" y="0"/>
                </a:moveTo>
                <a:lnTo>
                  <a:pt x="2374544" y="0"/>
                </a:lnTo>
                <a:lnTo>
                  <a:pt x="2374544" y="2374544"/>
                </a:lnTo>
                <a:lnTo>
                  <a:pt x="0" y="2374544"/>
                </a:lnTo>
                <a:lnTo>
                  <a:pt x="0" y="0"/>
                </a:lnTo>
                <a:close/>
              </a:path>
            </a:pathLst>
          </a:custGeom>
          <a:blipFill>
            <a:blip r:embed="rId6"/>
            <a:stretch>
              <a:fillRect l="0" t="0" r="0" b="0"/>
            </a:stretch>
          </a:blipFill>
        </p:spPr>
      </p:sp>
      <p:sp>
        <p:nvSpPr>
          <p:cNvPr name="Freeform 7" id="7"/>
          <p:cNvSpPr/>
          <p:nvPr/>
        </p:nvSpPr>
        <p:spPr>
          <a:xfrm flipH="false" flipV="false" rot="0">
            <a:off x="5266253" y="5916657"/>
            <a:ext cx="3050063" cy="3050063"/>
          </a:xfrm>
          <a:custGeom>
            <a:avLst/>
            <a:gdLst/>
            <a:ahLst/>
            <a:cxnLst/>
            <a:rect r="r" b="b" t="t" l="l"/>
            <a:pathLst>
              <a:path h="3050063" w="3050063">
                <a:moveTo>
                  <a:pt x="0" y="0"/>
                </a:moveTo>
                <a:lnTo>
                  <a:pt x="3050063" y="0"/>
                </a:lnTo>
                <a:lnTo>
                  <a:pt x="3050063" y="3050063"/>
                </a:lnTo>
                <a:lnTo>
                  <a:pt x="0" y="3050063"/>
                </a:lnTo>
                <a:lnTo>
                  <a:pt x="0" y="0"/>
                </a:lnTo>
                <a:close/>
              </a:path>
            </a:pathLst>
          </a:custGeom>
          <a:blipFill>
            <a:blip r:embed="rId7"/>
            <a:stretch>
              <a:fillRect l="0" t="0" r="0" b="0"/>
            </a:stretch>
          </a:blipFill>
        </p:spPr>
      </p:sp>
      <p:sp>
        <p:nvSpPr>
          <p:cNvPr name="Freeform 8" id="8"/>
          <p:cNvSpPr/>
          <p:nvPr/>
        </p:nvSpPr>
        <p:spPr>
          <a:xfrm flipH="false" flipV="false" rot="0">
            <a:off x="13938264" y="6088571"/>
            <a:ext cx="2345551" cy="2348487"/>
          </a:xfrm>
          <a:custGeom>
            <a:avLst/>
            <a:gdLst/>
            <a:ahLst/>
            <a:cxnLst/>
            <a:rect r="r" b="b" t="t" l="l"/>
            <a:pathLst>
              <a:path h="2348487" w="2345551">
                <a:moveTo>
                  <a:pt x="0" y="0"/>
                </a:moveTo>
                <a:lnTo>
                  <a:pt x="2345551" y="0"/>
                </a:lnTo>
                <a:lnTo>
                  <a:pt x="2345551" y="2348487"/>
                </a:lnTo>
                <a:lnTo>
                  <a:pt x="0" y="2348487"/>
                </a:lnTo>
                <a:lnTo>
                  <a:pt x="0" y="0"/>
                </a:lnTo>
                <a:close/>
              </a:path>
            </a:pathLst>
          </a:custGeom>
          <a:blipFill>
            <a:blip r:embed="rId8"/>
            <a:stretch>
              <a:fillRect l="0" t="0" r="0" b="0"/>
            </a:stretch>
          </a:blipFill>
        </p:spPr>
      </p:sp>
      <p:sp>
        <p:nvSpPr>
          <p:cNvPr name="Freeform 9" id="9"/>
          <p:cNvSpPr/>
          <p:nvPr/>
        </p:nvSpPr>
        <p:spPr>
          <a:xfrm flipH="false" flipV="false" rot="0">
            <a:off x="5186188" y="2113534"/>
            <a:ext cx="3210193" cy="3210193"/>
          </a:xfrm>
          <a:custGeom>
            <a:avLst/>
            <a:gdLst/>
            <a:ahLst/>
            <a:cxnLst/>
            <a:rect r="r" b="b" t="t" l="l"/>
            <a:pathLst>
              <a:path h="3210193" w="3210193">
                <a:moveTo>
                  <a:pt x="0" y="0"/>
                </a:moveTo>
                <a:lnTo>
                  <a:pt x="3210193" y="0"/>
                </a:lnTo>
                <a:lnTo>
                  <a:pt x="3210193" y="3210193"/>
                </a:lnTo>
                <a:lnTo>
                  <a:pt x="0" y="3210193"/>
                </a:lnTo>
                <a:lnTo>
                  <a:pt x="0" y="0"/>
                </a:lnTo>
                <a:close/>
              </a:path>
            </a:pathLst>
          </a:custGeom>
          <a:blipFill>
            <a:blip r:embed="rId9"/>
            <a:stretch>
              <a:fillRect l="0" t="0" r="0" b="0"/>
            </a:stretch>
          </a:blipFill>
        </p:spPr>
      </p:sp>
      <p:sp>
        <p:nvSpPr>
          <p:cNvPr name="TextBox 10" id="10"/>
          <p:cNvSpPr txBox="true"/>
          <p:nvPr/>
        </p:nvSpPr>
        <p:spPr>
          <a:xfrm rot="0">
            <a:off x="3443694" y="401638"/>
            <a:ext cx="11002403" cy="1120738"/>
          </a:xfrm>
          <a:prstGeom prst="rect">
            <a:avLst/>
          </a:prstGeom>
        </p:spPr>
        <p:txBody>
          <a:bodyPr anchor="t" rtlCol="false" tIns="0" lIns="0" bIns="0" rIns="0">
            <a:spAutoFit/>
          </a:bodyPr>
          <a:lstStyle/>
          <a:p>
            <a:pPr algn="ctr">
              <a:lnSpc>
                <a:spcPts val="9100"/>
              </a:lnSpc>
            </a:pPr>
            <a:r>
              <a:rPr lang="en-US" b="true" sz="6500">
                <a:solidFill>
                  <a:srgbClr val="000000"/>
                </a:solidFill>
                <a:latin typeface="Montserrat Bold"/>
                <a:ea typeface="Montserrat Bold"/>
                <a:cs typeface="Montserrat Bold"/>
                <a:sym typeface="Montserrat Bold"/>
              </a:rPr>
              <a:t>COMPONENTS</a:t>
            </a:r>
          </a:p>
        </p:txBody>
      </p:sp>
      <p:sp>
        <p:nvSpPr>
          <p:cNvPr name="TextBox 11" id="11"/>
          <p:cNvSpPr txBox="true"/>
          <p:nvPr/>
        </p:nvSpPr>
        <p:spPr>
          <a:xfrm rot="0">
            <a:off x="9294016" y="5354074"/>
            <a:ext cx="336141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STLINK-V2</a:t>
            </a:r>
          </a:p>
        </p:txBody>
      </p:sp>
      <p:sp>
        <p:nvSpPr>
          <p:cNvPr name="TextBox 12" id="12"/>
          <p:cNvSpPr txBox="true"/>
          <p:nvPr/>
        </p:nvSpPr>
        <p:spPr>
          <a:xfrm rot="0">
            <a:off x="13430333" y="5354074"/>
            <a:ext cx="336141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MCP2551</a:t>
            </a:r>
          </a:p>
        </p:txBody>
      </p:sp>
      <p:sp>
        <p:nvSpPr>
          <p:cNvPr name="TextBox 13" id="13"/>
          <p:cNvSpPr txBox="true"/>
          <p:nvPr/>
        </p:nvSpPr>
        <p:spPr>
          <a:xfrm rot="0">
            <a:off x="4980713" y="8360858"/>
            <a:ext cx="336141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Driver motor</a:t>
            </a:r>
          </a:p>
        </p:txBody>
      </p:sp>
      <p:sp>
        <p:nvSpPr>
          <p:cNvPr name="TextBox 14" id="14"/>
          <p:cNvSpPr txBox="true"/>
          <p:nvPr/>
        </p:nvSpPr>
        <p:spPr>
          <a:xfrm rot="0">
            <a:off x="9787451" y="8270587"/>
            <a:ext cx="336141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Motor N20</a:t>
            </a:r>
          </a:p>
        </p:txBody>
      </p:sp>
      <p:sp>
        <p:nvSpPr>
          <p:cNvPr name="TextBox 15" id="15"/>
          <p:cNvSpPr txBox="true"/>
          <p:nvPr/>
        </p:nvSpPr>
        <p:spPr>
          <a:xfrm rot="0">
            <a:off x="13430333" y="8360295"/>
            <a:ext cx="336141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Line sensor</a:t>
            </a:r>
          </a:p>
        </p:txBody>
      </p:sp>
      <p:sp>
        <p:nvSpPr>
          <p:cNvPr name="TextBox 16" id="16"/>
          <p:cNvSpPr txBox="true"/>
          <p:nvPr/>
        </p:nvSpPr>
        <p:spPr>
          <a:xfrm rot="0">
            <a:off x="1342051" y="5354074"/>
            <a:ext cx="2361952"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ESP32-C3</a:t>
            </a:r>
          </a:p>
        </p:txBody>
      </p:sp>
      <p:sp>
        <p:nvSpPr>
          <p:cNvPr name="TextBox 17" id="17"/>
          <p:cNvSpPr txBox="true"/>
          <p:nvPr/>
        </p:nvSpPr>
        <p:spPr>
          <a:xfrm rot="0">
            <a:off x="5458441" y="5354074"/>
            <a:ext cx="2361952"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STM32H5</a:t>
            </a:r>
          </a:p>
        </p:txBody>
      </p:sp>
      <p:sp>
        <p:nvSpPr>
          <p:cNvPr name="TextBox 18" id="18"/>
          <p:cNvSpPr txBox="true"/>
          <p:nvPr/>
        </p:nvSpPr>
        <p:spPr>
          <a:xfrm rot="0">
            <a:off x="552191" y="8360858"/>
            <a:ext cx="394167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Resistor-120ohm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7117" y="2391681"/>
            <a:ext cx="2751819" cy="2751819"/>
          </a:xfrm>
          <a:custGeom>
            <a:avLst/>
            <a:gdLst/>
            <a:ahLst/>
            <a:cxnLst/>
            <a:rect r="r" b="b" t="t" l="l"/>
            <a:pathLst>
              <a:path h="2751819" w="2751819">
                <a:moveTo>
                  <a:pt x="0" y="0"/>
                </a:moveTo>
                <a:lnTo>
                  <a:pt x="2751820" y="0"/>
                </a:lnTo>
                <a:lnTo>
                  <a:pt x="2751820" y="2751819"/>
                </a:lnTo>
                <a:lnTo>
                  <a:pt x="0" y="2751819"/>
                </a:lnTo>
                <a:lnTo>
                  <a:pt x="0" y="0"/>
                </a:lnTo>
                <a:close/>
              </a:path>
            </a:pathLst>
          </a:custGeom>
          <a:blipFill>
            <a:blip r:embed="rId2"/>
            <a:stretch>
              <a:fillRect l="0" t="0" r="0" b="0"/>
            </a:stretch>
          </a:blipFill>
        </p:spPr>
      </p:sp>
      <p:sp>
        <p:nvSpPr>
          <p:cNvPr name="Freeform 3" id="3"/>
          <p:cNvSpPr/>
          <p:nvPr/>
        </p:nvSpPr>
        <p:spPr>
          <a:xfrm flipH="false" flipV="false" rot="0">
            <a:off x="5281255" y="2272442"/>
            <a:ext cx="3050260" cy="2871058"/>
          </a:xfrm>
          <a:custGeom>
            <a:avLst/>
            <a:gdLst/>
            <a:ahLst/>
            <a:cxnLst/>
            <a:rect r="r" b="b" t="t" l="l"/>
            <a:pathLst>
              <a:path h="2871058" w="3050260">
                <a:moveTo>
                  <a:pt x="0" y="0"/>
                </a:moveTo>
                <a:lnTo>
                  <a:pt x="3050261" y="0"/>
                </a:lnTo>
                <a:lnTo>
                  <a:pt x="3050261" y="2871058"/>
                </a:lnTo>
                <a:lnTo>
                  <a:pt x="0" y="2871058"/>
                </a:lnTo>
                <a:lnTo>
                  <a:pt x="0" y="0"/>
                </a:lnTo>
                <a:close/>
              </a:path>
            </a:pathLst>
          </a:custGeom>
          <a:blipFill>
            <a:blip r:embed="rId3"/>
            <a:stretch>
              <a:fillRect l="0" t="0" r="0" b="0"/>
            </a:stretch>
          </a:blipFill>
        </p:spPr>
      </p:sp>
      <p:sp>
        <p:nvSpPr>
          <p:cNvPr name="Freeform 4" id="4"/>
          <p:cNvSpPr/>
          <p:nvPr/>
        </p:nvSpPr>
        <p:spPr>
          <a:xfrm flipH="false" flipV="false" rot="0">
            <a:off x="9636786" y="2621664"/>
            <a:ext cx="2675874" cy="2675874"/>
          </a:xfrm>
          <a:custGeom>
            <a:avLst/>
            <a:gdLst/>
            <a:ahLst/>
            <a:cxnLst/>
            <a:rect r="r" b="b" t="t" l="l"/>
            <a:pathLst>
              <a:path h="2675874" w="2675874">
                <a:moveTo>
                  <a:pt x="0" y="0"/>
                </a:moveTo>
                <a:lnTo>
                  <a:pt x="2675874" y="0"/>
                </a:lnTo>
                <a:lnTo>
                  <a:pt x="2675874" y="2675874"/>
                </a:lnTo>
                <a:lnTo>
                  <a:pt x="0" y="2675874"/>
                </a:lnTo>
                <a:lnTo>
                  <a:pt x="0" y="0"/>
                </a:lnTo>
                <a:close/>
              </a:path>
            </a:pathLst>
          </a:custGeom>
          <a:blipFill>
            <a:blip r:embed="rId4"/>
            <a:stretch>
              <a:fillRect l="0" t="0" r="0" b="0"/>
            </a:stretch>
          </a:blipFill>
        </p:spPr>
      </p:sp>
      <p:sp>
        <p:nvSpPr>
          <p:cNvPr name="Freeform 5" id="5"/>
          <p:cNvSpPr/>
          <p:nvPr/>
        </p:nvSpPr>
        <p:spPr>
          <a:xfrm flipH="false" flipV="false" rot="0">
            <a:off x="1147117" y="5695387"/>
            <a:ext cx="3327143" cy="3327143"/>
          </a:xfrm>
          <a:custGeom>
            <a:avLst/>
            <a:gdLst/>
            <a:ahLst/>
            <a:cxnLst/>
            <a:rect r="r" b="b" t="t" l="l"/>
            <a:pathLst>
              <a:path h="3327143" w="3327143">
                <a:moveTo>
                  <a:pt x="0" y="0"/>
                </a:moveTo>
                <a:lnTo>
                  <a:pt x="3327143" y="0"/>
                </a:lnTo>
                <a:lnTo>
                  <a:pt x="3327143" y="3327142"/>
                </a:lnTo>
                <a:lnTo>
                  <a:pt x="0" y="3327142"/>
                </a:lnTo>
                <a:lnTo>
                  <a:pt x="0" y="0"/>
                </a:lnTo>
                <a:close/>
              </a:path>
            </a:pathLst>
          </a:custGeom>
          <a:blipFill>
            <a:blip r:embed="rId5"/>
            <a:stretch>
              <a:fillRect l="0" t="0" r="0" b="0"/>
            </a:stretch>
          </a:blipFill>
        </p:spPr>
      </p:sp>
      <p:sp>
        <p:nvSpPr>
          <p:cNvPr name="Freeform 6" id="6"/>
          <p:cNvSpPr/>
          <p:nvPr/>
        </p:nvSpPr>
        <p:spPr>
          <a:xfrm flipH="false" flipV="false" rot="0">
            <a:off x="13229720" y="2513377"/>
            <a:ext cx="3762639" cy="2508426"/>
          </a:xfrm>
          <a:custGeom>
            <a:avLst/>
            <a:gdLst/>
            <a:ahLst/>
            <a:cxnLst/>
            <a:rect r="r" b="b" t="t" l="l"/>
            <a:pathLst>
              <a:path h="2508426" w="3762639">
                <a:moveTo>
                  <a:pt x="0" y="0"/>
                </a:moveTo>
                <a:lnTo>
                  <a:pt x="3762639" y="0"/>
                </a:lnTo>
                <a:lnTo>
                  <a:pt x="3762639" y="2508427"/>
                </a:lnTo>
                <a:lnTo>
                  <a:pt x="0" y="2508427"/>
                </a:lnTo>
                <a:lnTo>
                  <a:pt x="0" y="0"/>
                </a:lnTo>
                <a:close/>
              </a:path>
            </a:pathLst>
          </a:custGeom>
          <a:blipFill>
            <a:blip r:embed="rId6"/>
            <a:stretch>
              <a:fillRect l="0" t="0" r="0" b="0"/>
            </a:stretch>
          </a:blipFill>
        </p:spPr>
      </p:sp>
      <p:sp>
        <p:nvSpPr>
          <p:cNvPr name="Freeform 7" id="7"/>
          <p:cNvSpPr/>
          <p:nvPr/>
        </p:nvSpPr>
        <p:spPr>
          <a:xfrm flipH="false" flipV="false" rot="0">
            <a:off x="9534813" y="6098829"/>
            <a:ext cx="2724203" cy="2724203"/>
          </a:xfrm>
          <a:custGeom>
            <a:avLst/>
            <a:gdLst/>
            <a:ahLst/>
            <a:cxnLst/>
            <a:rect r="r" b="b" t="t" l="l"/>
            <a:pathLst>
              <a:path h="2724203" w="2724203">
                <a:moveTo>
                  <a:pt x="0" y="0"/>
                </a:moveTo>
                <a:lnTo>
                  <a:pt x="2724203" y="0"/>
                </a:lnTo>
                <a:lnTo>
                  <a:pt x="2724203" y="2724203"/>
                </a:lnTo>
                <a:lnTo>
                  <a:pt x="0" y="2724203"/>
                </a:lnTo>
                <a:lnTo>
                  <a:pt x="0" y="0"/>
                </a:lnTo>
                <a:close/>
              </a:path>
            </a:pathLst>
          </a:custGeom>
          <a:blipFill>
            <a:blip r:embed="rId7"/>
            <a:stretch>
              <a:fillRect l="0" t="0" r="0" b="0"/>
            </a:stretch>
          </a:blipFill>
        </p:spPr>
      </p:sp>
      <p:sp>
        <p:nvSpPr>
          <p:cNvPr name="Freeform 8" id="8"/>
          <p:cNvSpPr/>
          <p:nvPr/>
        </p:nvSpPr>
        <p:spPr>
          <a:xfrm flipH="false" flipV="false" rot="0">
            <a:off x="5033757" y="5713043"/>
            <a:ext cx="3545257" cy="3545257"/>
          </a:xfrm>
          <a:custGeom>
            <a:avLst/>
            <a:gdLst/>
            <a:ahLst/>
            <a:cxnLst/>
            <a:rect r="r" b="b" t="t" l="l"/>
            <a:pathLst>
              <a:path h="3545257" w="3545257">
                <a:moveTo>
                  <a:pt x="0" y="0"/>
                </a:moveTo>
                <a:lnTo>
                  <a:pt x="3545257" y="0"/>
                </a:lnTo>
                <a:lnTo>
                  <a:pt x="3545257" y="3545257"/>
                </a:lnTo>
                <a:lnTo>
                  <a:pt x="0" y="3545257"/>
                </a:lnTo>
                <a:lnTo>
                  <a:pt x="0" y="0"/>
                </a:lnTo>
                <a:close/>
              </a:path>
            </a:pathLst>
          </a:custGeom>
          <a:blipFill>
            <a:blip r:embed="rId8"/>
            <a:stretch>
              <a:fillRect l="0" t="0" r="0" b="0"/>
            </a:stretch>
          </a:blipFill>
        </p:spPr>
      </p:sp>
      <p:sp>
        <p:nvSpPr>
          <p:cNvPr name="Freeform 9" id="9"/>
          <p:cNvSpPr/>
          <p:nvPr/>
        </p:nvSpPr>
        <p:spPr>
          <a:xfrm flipH="false" flipV="false" rot="0">
            <a:off x="13820251" y="6566728"/>
            <a:ext cx="2153037" cy="2153037"/>
          </a:xfrm>
          <a:custGeom>
            <a:avLst/>
            <a:gdLst/>
            <a:ahLst/>
            <a:cxnLst/>
            <a:rect r="r" b="b" t="t" l="l"/>
            <a:pathLst>
              <a:path h="2153037" w="2153037">
                <a:moveTo>
                  <a:pt x="0" y="0"/>
                </a:moveTo>
                <a:lnTo>
                  <a:pt x="2153037" y="0"/>
                </a:lnTo>
                <a:lnTo>
                  <a:pt x="2153037" y="2153037"/>
                </a:lnTo>
                <a:lnTo>
                  <a:pt x="0" y="2153037"/>
                </a:lnTo>
                <a:lnTo>
                  <a:pt x="0" y="0"/>
                </a:lnTo>
                <a:close/>
              </a:path>
            </a:pathLst>
          </a:custGeom>
          <a:blipFill>
            <a:blip r:embed="rId9"/>
            <a:stretch>
              <a:fillRect l="0" t="0" r="0" b="0"/>
            </a:stretch>
          </a:blipFill>
        </p:spPr>
      </p:sp>
      <p:sp>
        <p:nvSpPr>
          <p:cNvPr name="TextBox 10" id="10"/>
          <p:cNvSpPr txBox="true"/>
          <p:nvPr/>
        </p:nvSpPr>
        <p:spPr>
          <a:xfrm rot="0">
            <a:off x="1342051" y="5354074"/>
            <a:ext cx="2361952"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M</a:t>
            </a:r>
            <a:r>
              <a:rPr lang="en-US" sz="3500">
                <a:solidFill>
                  <a:srgbClr val="000000"/>
                </a:solidFill>
                <a:latin typeface="Montserrat"/>
                <a:ea typeface="Montserrat"/>
                <a:cs typeface="Montserrat"/>
                <a:sym typeface="Montserrat"/>
              </a:rPr>
              <a:t>PU6050 </a:t>
            </a:r>
          </a:p>
        </p:txBody>
      </p:sp>
      <p:sp>
        <p:nvSpPr>
          <p:cNvPr name="TextBox 11" id="11"/>
          <p:cNvSpPr txBox="true"/>
          <p:nvPr/>
        </p:nvSpPr>
        <p:spPr>
          <a:xfrm rot="0">
            <a:off x="5458441" y="5354074"/>
            <a:ext cx="2361952"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HC-SR04</a:t>
            </a:r>
          </a:p>
        </p:txBody>
      </p:sp>
      <p:sp>
        <p:nvSpPr>
          <p:cNvPr name="TextBox 12" id="12"/>
          <p:cNvSpPr txBox="true"/>
          <p:nvPr/>
        </p:nvSpPr>
        <p:spPr>
          <a:xfrm rot="0">
            <a:off x="9294016" y="5354074"/>
            <a:ext cx="336141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BUTTON</a:t>
            </a:r>
          </a:p>
        </p:txBody>
      </p:sp>
      <p:sp>
        <p:nvSpPr>
          <p:cNvPr name="TextBox 13" id="13"/>
          <p:cNvSpPr txBox="true"/>
          <p:nvPr/>
        </p:nvSpPr>
        <p:spPr>
          <a:xfrm rot="0">
            <a:off x="13430333" y="5354074"/>
            <a:ext cx="336141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Pin Li-ion</a:t>
            </a:r>
          </a:p>
        </p:txBody>
      </p:sp>
      <p:sp>
        <p:nvSpPr>
          <p:cNvPr name="TextBox 14" id="14"/>
          <p:cNvSpPr txBox="true"/>
          <p:nvPr/>
        </p:nvSpPr>
        <p:spPr>
          <a:xfrm rot="0">
            <a:off x="532587" y="8481720"/>
            <a:ext cx="394167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LM2596</a:t>
            </a:r>
          </a:p>
        </p:txBody>
      </p:sp>
      <p:sp>
        <p:nvSpPr>
          <p:cNvPr name="TextBox 15" id="15"/>
          <p:cNvSpPr txBox="true"/>
          <p:nvPr/>
        </p:nvSpPr>
        <p:spPr>
          <a:xfrm rot="0">
            <a:off x="3443694" y="401638"/>
            <a:ext cx="11002403" cy="1120738"/>
          </a:xfrm>
          <a:prstGeom prst="rect">
            <a:avLst/>
          </a:prstGeom>
        </p:spPr>
        <p:txBody>
          <a:bodyPr anchor="t" rtlCol="false" tIns="0" lIns="0" bIns="0" rIns="0">
            <a:spAutoFit/>
          </a:bodyPr>
          <a:lstStyle/>
          <a:p>
            <a:pPr algn="ctr">
              <a:lnSpc>
                <a:spcPts val="9100"/>
              </a:lnSpc>
            </a:pPr>
            <a:r>
              <a:rPr lang="en-US" b="true" sz="6500">
                <a:solidFill>
                  <a:srgbClr val="000000"/>
                </a:solidFill>
                <a:latin typeface="Montserrat Bold"/>
                <a:ea typeface="Montserrat Bold"/>
                <a:cs typeface="Montserrat Bold"/>
                <a:sym typeface="Montserrat Bold"/>
              </a:rPr>
              <a:t>COMPONENTS</a:t>
            </a:r>
          </a:p>
        </p:txBody>
      </p:sp>
      <p:sp>
        <p:nvSpPr>
          <p:cNvPr name="TextBox 16" id="16"/>
          <p:cNvSpPr txBox="true"/>
          <p:nvPr/>
        </p:nvSpPr>
        <p:spPr>
          <a:xfrm rot="0">
            <a:off x="4835549" y="8481720"/>
            <a:ext cx="394167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PCB</a:t>
            </a:r>
          </a:p>
        </p:txBody>
      </p:sp>
      <p:sp>
        <p:nvSpPr>
          <p:cNvPr name="TextBox 17" id="17"/>
          <p:cNvSpPr txBox="true"/>
          <p:nvPr/>
        </p:nvSpPr>
        <p:spPr>
          <a:xfrm rot="0">
            <a:off x="8926078" y="8481720"/>
            <a:ext cx="394167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Wheel</a:t>
            </a:r>
          </a:p>
        </p:txBody>
      </p:sp>
      <p:sp>
        <p:nvSpPr>
          <p:cNvPr name="TextBox 18" id="18"/>
          <p:cNvSpPr txBox="true"/>
          <p:nvPr/>
        </p:nvSpPr>
        <p:spPr>
          <a:xfrm rot="0">
            <a:off x="12867751" y="8481720"/>
            <a:ext cx="3941673" cy="606425"/>
          </a:xfrm>
          <a:prstGeom prst="rect">
            <a:avLst/>
          </a:prstGeom>
        </p:spPr>
        <p:txBody>
          <a:bodyPr anchor="t" rtlCol="false" tIns="0" lIns="0" bIns="0" rIns="0">
            <a:spAutoFit/>
          </a:bodyPr>
          <a:lstStyle/>
          <a:p>
            <a:pPr algn="ctr">
              <a:lnSpc>
                <a:spcPts val="4900"/>
              </a:lnSpc>
              <a:spcBef>
                <a:spcPct val="0"/>
              </a:spcBef>
            </a:pPr>
            <a:r>
              <a:rPr lang="en-US" sz="3500">
                <a:solidFill>
                  <a:srgbClr val="000000"/>
                </a:solidFill>
                <a:latin typeface="Montserrat"/>
                <a:ea typeface="Montserrat"/>
                <a:cs typeface="Montserrat"/>
                <a:sym typeface="Montserrat"/>
              </a:rPr>
              <a:t>Oled(I2C)</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245640" y="2294363"/>
            <a:ext cx="11301259" cy="6116806"/>
          </a:xfrm>
          <a:custGeom>
            <a:avLst/>
            <a:gdLst/>
            <a:ahLst/>
            <a:cxnLst/>
            <a:rect r="r" b="b" t="t" l="l"/>
            <a:pathLst>
              <a:path h="6116806" w="11301259">
                <a:moveTo>
                  <a:pt x="0" y="0"/>
                </a:moveTo>
                <a:lnTo>
                  <a:pt x="11301259" y="0"/>
                </a:lnTo>
                <a:lnTo>
                  <a:pt x="11301259" y="6116807"/>
                </a:lnTo>
                <a:lnTo>
                  <a:pt x="0" y="6116807"/>
                </a:lnTo>
                <a:lnTo>
                  <a:pt x="0" y="0"/>
                </a:lnTo>
                <a:close/>
              </a:path>
            </a:pathLst>
          </a:custGeom>
          <a:blipFill>
            <a:blip r:embed="rId2"/>
            <a:stretch>
              <a:fillRect l="0" t="0" r="0" b="0"/>
            </a:stretch>
          </a:blipFill>
        </p:spPr>
      </p:sp>
      <p:sp>
        <p:nvSpPr>
          <p:cNvPr name="TextBox 3" id="3"/>
          <p:cNvSpPr txBox="true"/>
          <p:nvPr/>
        </p:nvSpPr>
        <p:spPr>
          <a:xfrm rot="0">
            <a:off x="-159033" y="82231"/>
            <a:ext cx="18230298" cy="1120738"/>
          </a:xfrm>
          <a:prstGeom prst="rect">
            <a:avLst/>
          </a:prstGeom>
        </p:spPr>
        <p:txBody>
          <a:bodyPr anchor="t" rtlCol="false" tIns="0" lIns="0" bIns="0" rIns="0">
            <a:spAutoFit/>
          </a:bodyPr>
          <a:lstStyle/>
          <a:p>
            <a:pPr algn="ctr">
              <a:lnSpc>
                <a:spcPts val="9100"/>
              </a:lnSpc>
            </a:pPr>
            <a:r>
              <a:rPr lang="en-US" b="true" sz="6500">
                <a:solidFill>
                  <a:srgbClr val="000000"/>
                </a:solidFill>
                <a:latin typeface="Montserrat Bold"/>
                <a:ea typeface="Montserrat Bold"/>
                <a:cs typeface="Montserrat Bold"/>
                <a:sym typeface="Montserrat Bold"/>
              </a:rPr>
              <a:t>SOFTWARE &amp; DEBUGGING TOOLS</a:t>
            </a:r>
          </a:p>
        </p:txBody>
      </p:sp>
      <p:sp>
        <p:nvSpPr>
          <p:cNvPr name="TextBox 4" id="4"/>
          <p:cNvSpPr txBox="true"/>
          <p:nvPr/>
        </p:nvSpPr>
        <p:spPr>
          <a:xfrm rot="0">
            <a:off x="366623" y="1117244"/>
            <a:ext cx="5629394" cy="8945025"/>
          </a:xfrm>
          <a:prstGeom prst="rect">
            <a:avLst/>
          </a:prstGeom>
        </p:spPr>
        <p:txBody>
          <a:bodyPr anchor="t" rtlCol="false" tIns="0" lIns="0" bIns="0" rIns="0">
            <a:spAutoFit/>
          </a:bodyPr>
          <a:lstStyle/>
          <a:p>
            <a:pPr algn="l">
              <a:lnSpc>
                <a:spcPts val="3932"/>
              </a:lnSpc>
              <a:spcBef>
                <a:spcPct val="0"/>
              </a:spcBef>
            </a:pPr>
            <a:r>
              <a:rPr lang="en-US" sz="2808">
                <a:solidFill>
                  <a:srgbClr val="000000"/>
                </a:solidFill>
                <a:latin typeface="Crimson Roman"/>
                <a:ea typeface="Crimson Roman"/>
                <a:cs typeface="Crimson Roman"/>
                <a:sym typeface="Crimson Roman"/>
              </a:rPr>
              <a:t>Development IDEs</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STM32CubeIDE</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ESP-IDF</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VS Code + Espressif Extension</a:t>
            </a:r>
          </a:p>
          <a:p>
            <a:pPr algn="l">
              <a:lnSpc>
                <a:spcPts val="3932"/>
              </a:lnSpc>
            </a:pPr>
            <a:r>
              <a:rPr lang="en-US" sz="2808">
                <a:solidFill>
                  <a:srgbClr val="000000"/>
                </a:solidFill>
                <a:latin typeface="Crimson Roman"/>
                <a:ea typeface="Crimson Roman"/>
                <a:cs typeface="Crimson Roman"/>
                <a:sym typeface="Crimson Roman"/>
              </a:rPr>
              <a:t>Firmware Libraries</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FreeRTOS</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STM32 HAL</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ESP-IDF TWAI driver</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ESP-IDF WiFi + lwIP</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MPU-6050/9250 driver</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SSD1306 driver</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Madgwick / Complementary Filter</a:t>
            </a:r>
          </a:p>
          <a:p>
            <a:pPr algn="l">
              <a:lnSpc>
                <a:spcPts val="3932"/>
              </a:lnSpc>
            </a:pPr>
            <a:r>
              <a:rPr lang="en-US" sz="2808">
                <a:solidFill>
                  <a:srgbClr val="000000"/>
                </a:solidFill>
                <a:latin typeface="Crimson Roman"/>
                <a:ea typeface="Crimson Roman"/>
                <a:cs typeface="Crimson Roman"/>
                <a:sym typeface="Crimson Roman"/>
              </a:rPr>
              <a:t>Debugging &amp; Analysis Tools</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OpenOCD + GDB</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Saleae Logic Analyzer</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ESP-IDF Monitor</a:t>
            </a:r>
          </a:p>
          <a:p>
            <a:pPr algn="l" marL="606391" indent="-303196" lvl="1">
              <a:lnSpc>
                <a:spcPts val="3932"/>
              </a:lnSpc>
              <a:buFont typeface="Arial"/>
              <a:buChar char="•"/>
            </a:pPr>
            <a:r>
              <a:rPr lang="en-US" sz="2808">
                <a:solidFill>
                  <a:srgbClr val="000000"/>
                </a:solidFill>
                <a:latin typeface="Crimson Roman"/>
                <a:ea typeface="Crimson Roman"/>
                <a:cs typeface="Crimson Roman"/>
                <a:sym typeface="Crimson Roman"/>
              </a:rPr>
              <a:t>SEGGER SystemView</a:t>
            </a:r>
          </a:p>
          <a:p>
            <a:pPr algn="l">
              <a:lnSpc>
                <a:spcPts val="3932"/>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51718" y="1352550"/>
            <a:ext cx="11063559" cy="7486650"/>
          </a:xfrm>
          <a:prstGeom prst="rect">
            <a:avLst/>
          </a:prstGeom>
        </p:spPr>
        <p:txBody>
          <a:bodyPr anchor="t" rtlCol="false" tIns="0" lIns="0" bIns="0" rIns="0">
            <a:spAutoFit/>
          </a:bodyPr>
          <a:lstStyle/>
          <a:p>
            <a:pPr algn="just">
              <a:lnSpc>
                <a:spcPts val="4200"/>
              </a:lnSpc>
            </a:pPr>
            <a:r>
              <a:rPr lang="en-US" sz="3000">
                <a:solidFill>
                  <a:srgbClr val="000000"/>
                </a:solidFill>
                <a:latin typeface="Crimson Roman"/>
                <a:ea typeface="Crimson Roman"/>
                <a:cs typeface="Crimson Roman"/>
                <a:sym typeface="Crimson Roman"/>
              </a:rPr>
              <a:t>Problem Statement:</a:t>
            </a:r>
          </a:p>
          <a:p>
            <a:pPr algn="just">
              <a:lnSpc>
                <a:spcPts val="4200"/>
              </a:lnSpc>
            </a:pPr>
            <a:r>
              <a:rPr lang="en-US" sz="3000">
                <a:solidFill>
                  <a:srgbClr val="000000"/>
                </a:solidFill>
                <a:latin typeface="Crimson Roman"/>
                <a:ea typeface="Crimson Roman"/>
                <a:cs typeface="Crimson Roman"/>
                <a:sym typeface="Crimson Roman"/>
              </a:rPr>
              <a:t>In today's context, the restaurant service industry is gradually shifting toward automation in order to:</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Reduce labor costs</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I</a:t>
            </a:r>
            <a:r>
              <a:rPr lang="en-US" sz="3000">
                <a:solidFill>
                  <a:srgbClr val="000000"/>
                </a:solidFill>
                <a:latin typeface="Crimson Roman"/>
                <a:ea typeface="Crimson Roman"/>
                <a:cs typeface="Crimson Roman"/>
                <a:sym typeface="Crimson Roman"/>
              </a:rPr>
              <a:t>ncrease service efficiency</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Enhance customer experience</a:t>
            </a:r>
          </a:p>
          <a:p>
            <a:pPr algn="just">
              <a:lnSpc>
                <a:spcPts val="4200"/>
              </a:lnSpc>
            </a:pPr>
            <a:r>
              <a:rPr lang="en-US" sz="3000">
                <a:solidFill>
                  <a:srgbClr val="000000"/>
                </a:solidFill>
                <a:latin typeface="Crimson Roman"/>
                <a:ea typeface="Crimson Roman"/>
                <a:cs typeface="Crimson Roman"/>
                <a:sym typeface="Crimson Roman"/>
              </a:rPr>
              <a:t>However, existing restaurant robot systems still have several limitations:</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Centralized processing → prone to overload, difficult to scale</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Slow</a:t>
            </a:r>
            <a:r>
              <a:rPr lang="en-US" sz="3000">
                <a:solidFill>
                  <a:srgbClr val="000000"/>
                </a:solidFill>
                <a:latin typeface="Crimson Roman"/>
                <a:ea typeface="Crimson Roman"/>
                <a:cs typeface="Crimson Roman"/>
                <a:sym typeface="Crimson Roman"/>
              </a:rPr>
              <a:t> response in emergency situations</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Lack of stability when operating in real-world environments</a:t>
            </a:r>
          </a:p>
          <a:p>
            <a:pPr algn="just">
              <a:lnSpc>
                <a:spcPts val="4200"/>
              </a:lnSpc>
            </a:pPr>
            <a:r>
              <a:rPr lang="en-US" sz="3000">
                <a:solidFill>
                  <a:srgbClr val="000000"/>
                </a:solidFill>
                <a:latin typeface="Crimson Roman"/>
                <a:ea typeface="Crimson Roman"/>
                <a:cs typeface="Crimson Roman"/>
                <a:sym typeface="Crimson Roman"/>
              </a:rPr>
              <a:t>Therefore, there is a need to build a robot system that:</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Is</a:t>
            </a:r>
            <a:r>
              <a:rPr lang="en-US" sz="3000">
                <a:solidFill>
                  <a:srgbClr val="000000"/>
                </a:solidFill>
                <a:latin typeface="Crimson Roman"/>
                <a:ea typeface="Crimson Roman"/>
                <a:cs typeface="Crimson Roman"/>
                <a:sym typeface="Crimson Roman"/>
              </a:rPr>
              <a:t> capable of distributed processing</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Guarantees real-time performance</a:t>
            </a:r>
          </a:p>
          <a:p>
            <a:pPr algn="just" marL="647700" indent="-323850" lvl="1">
              <a:lnSpc>
                <a:spcPts val="4200"/>
              </a:lnSpc>
              <a:spcBef>
                <a:spcPct val="0"/>
              </a:spcBef>
              <a:buFont typeface="Arial"/>
              <a:buChar char="•"/>
            </a:pPr>
            <a:r>
              <a:rPr lang="en-US" sz="3000">
                <a:solidFill>
                  <a:srgbClr val="000000"/>
                </a:solidFill>
                <a:latin typeface="Crimson Roman"/>
                <a:ea typeface="Crimson Roman"/>
                <a:cs typeface="Crimson Roman"/>
                <a:sym typeface="Crimson Roman"/>
              </a:rPr>
              <a:t>Operates safely and reliably</a:t>
            </a:r>
          </a:p>
        </p:txBody>
      </p:sp>
      <p:sp>
        <p:nvSpPr>
          <p:cNvPr name="Freeform 3" id="3"/>
          <p:cNvSpPr/>
          <p:nvPr/>
        </p:nvSpPr>
        <p:spPr>
          <a:xfrm flipH="false" flipV="false" rot="0">
            <a:off x="11915277" y="1712107"/>
            <a:ext cx="5856480" cy="7284179"/>
          </a:xfrm>
          <a:custGeom>
            <a:avLst/>
            <a:gdLst/>
            <a:ahLst/>
            <a:cxnLst/>
            <a:rect r="r" b="b" t="t" l="l"/>
            <a:pathLst>
              <a:path h="7284179" w="5856480">
                <a:moveTo>
                  <a:pt x="0" y="0"/>
                </a:moveTo>
                <a:lnTo>
                  <a:pt x="5856480" y="0"/>
                </a:lnTo>
                <a:lnTo>
                  <a:pt x="5856480" y="7284179"/>
                </a:lnTo>
                <a:lnTo>
                  <a:pt x="0" y="7284179"/>
                </a:lnTo>
                <a:lnTo>
                  <a:pt x="0" y="0"/>
                </a:lnTo>
                <a:close/>
              </a:path>
            </a:pathLst>
          </a:custGeom>
          <a:blipFill>
            <a:blip r:embed="rId2"/>
            <a:stretch>
              <a:fillRect l="0" t="0" r="0" b="0"/>
            </a:stretch>
          </a:blipFill>
        </p:spPr>
      </p:sp>
      <p:sp>
        <p:nvSpPr>
          <p:cNvPr name="TextBox 4" id="4"/>
          <p:cNvSpPr txBox="true"/>
          <p:nvPr/>
        </p:nvSpPr>
        <p:spPr>
          <a:xfrm rot="0">
            <a:off x="-292986" y="159464"/>
            <a:ext cx="5373114"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Introduction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51718" y="1296547"/>
            <a:ext cx="10581062" cy="8020050"/>
          </a:xfrm>
          <a:prstGeom prst="rect">
            <a:avLst/>
          </a:prstGeom>
        </p:spPr>
        <p:txBody>
          <a:bodyPr anchor="t" rtlCol="false" tIns="0" lIns="0" bIns="0" rIns="0">
            <a:spAutoFit/>
          </a:bodyPr>
          <a:lstStyle/>
          <a:p>
            <a:pPr algn="just">
              <a:lnSpc>
                <a:spcPts val="4200"/>
              </a:lnSpc>
            </a:pPr>
            <a:r>
              <a:rPr lang="en-US" sz="3000">
                <a:solidFill>
                  <a:srgbClr val="000000"/>
                </a:solidFill>
                <a:latin typeface="Crimson Roman"/>
                <a:ea typeface="Crimson Roman"/>
                <a:cs typeface="Crimson Roman"/>
                <a:sym typeface="Crimson Roman"/>
              </a:rPr>
              <a:t>This project focuses on designing an automated delivery robot using a Multi-MCU architecture combined with CAN Bus communication.</a:t>
            </a:r>
          </a:p>
          <a:p>
            <a:pPr algn="just">
              <a:lnSpc>
                <a:spcPts val="4200"/>
              </a:lnSpc>
            </a:pPr>
            <a:r>
              <a:rPr lang="en-US" sz="3000">
                <a:solidFill>
                  <a:srgbClr val="000000"/>
                </a:solidFill>
                <a:latin typeface="Crimson Roman"/>
                <a:ea typeface="Crimson Roman"/>
                <a:cs typeface="Crimson Roman"/>
                <a:sym typeface="Crimson Roman"/>
              </a:rPr>
              <a:t>The system is divided into 3 main blocks:</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MCU1 (ESP32): handles system logic, receives orders via WiFi, and coordinates the overall system</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MCU2 (STM32H5): controls movement, positioning, and navigation</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MCU3 (STM32H5): handles sensor processing and ensures safety</a:t>
            </a:r>
          </a:p>
          <a:p>
            <a:pPr algn="just">
              <a:lnSpc>
                <a:spcPts val="4200"/>
              </a:lnSpc>
            </a:pPr>
            <a:r>
              <a:rPr lang="en-US" sz="3000">
                <a:solidFill>
                  <a:srgbClr val="000000"/>
                </a:solidFill>
                <a:latin typeface="Crimson Roman"/>
                <a:ea typeface="Crimson Roman"/>
                <a:cs typeface="Crimson Roman"/>
                <a:sym typeface="Crimson Roman"/>
              </a:rPr>
              <a:t>Ea</a:t>
            </a:r>
            <a:r>
              <a:rPr lang="en-US" sz="3000">
                <a:solidFill>
                  <a:srgbClr val="000000"/>
                </a:solidFill>
                <a:latin typeface="Crimson Roman"/>
                <a:ea typeface="Crimson Roman"/>
                <a:cs typeface="Crimson Roman"/>
                <a:sym typeface="Crimson Roman"/>
              </a:rPr>
              <a:t>ch microcontroller operates independently and communicates with one another via CAN Bus, which helps to:</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Increase system stability</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Reduce processing load on each block</a:t>
            </a:r>
          </a:p>
          <a:p>
            <a:pPr algn="just" marL="647700" indent="-323850" lvl="1">
              <a:lnSpc>
                <a:spcPts val="4200"/>
              </a:lnSpc>
              <a:buFont typeface="Arial"/>
              <a:buChar char="•"/>
            </a:pPr>
            <a:r>
              <a:rPr lang="en-US" sz="3000">
                <a:solidFill>
                  <a:srgbClr val="000000"/>
                </a:solidFill>
                <a:latin typeface="Crimson Roman"/>
                <a:ea typeface="Crimson Roman"/>
                <a:cs typeface="Crimson Roman"/>
                <a:sym typeface="Crimson Roman"/>
              </a:rPr>
              <a:t>Allow</a:t>
            </a:r>
            <a:r>
              <a:rPr lang="en-US" sz="3000">
                <a:solidFill>
                  <a:srgbClr val="000000"/>
                </a:solidFill>
                <a:latin typeface="Crimson Roman"/>
                <a:ea typeface="Crimson Roman"/>
                <a:cs typeface="Crimson Roman"/>
                <a:sym typeface="Crimson Roman"/>
              </a:rPr>
              <a:t> easy system expansion</a:t>
            </a:r>
          </a:p>
          <a:p>
            <a:pPr algn="just">
              <a:lnSpc>
                <a:spcPts val="4200"/>
              </a:lnSpc>
              <a:spcBef>
                <a:spcPct val="0"/>
              </a:spcBef>
            </a:pPr>
            <a:r>
              <a:rPr lang="en-US" sz="3000">
                <a:solidFill>
                  <a:srgbClr val="000000"/>
                </a:solidFill>
                <a:latin typeface="Crimson Roman"/>
                <a:ea typeface="Crimson Roman"/>
                <a:cs typeface="Crimson Roman"/>
                <a:sym typeface="Crimson Roman"/>
              </a:rPr>
              <a:t>T</a:t>
            </a:r>
            <a:r>
              <a:rPr lang="en-US" sz="3000">
                <a:solidFill>
                  <a:srgbClr val="000000"/>
                </a:solidFill>
                <a:latin typeface="Crimson Roman"/>
                <a:ea typeface="Crimson Roman"/>
                <a:cs typeface="Crimson Roman"/>
                <a:sym typeface="Crimson Roman"/>
              </a:rPr>
              <a:t>he system uses FreeRTOS to manage multitasking and ensure real-time operation.</a:t>
            </a:r>
          </a:p>
        </p:txBody>
      </p:sp>
      <p:sp>
        <p:nvSpPr>
          <p:cNvPr name="Freeform 3" id="3"/>
          <p:cNvSpPr/>
          <p:nvPr/>
        </p:nvSpPr>
        <p:spPr>
          <a:xfrm flipH="false" flipV="false" rot="0">
            <a:off x="11915277" y="1712107"/>
            <a:ext cx="5856480" cy="7284179"/>
          </a:xfrm>
          <a:custGeom>
            <a:avLst/>
            <a:gdLst/>
            <a:ahLst/>
            <a:cxnLst/>
            <a:rect r="r" b="b" t="t" l="l"/>
            <a:pathLst>
              <a:path h="7284179" w="5856480">
                <a:moveTo>
                  <a:pt x="0" y="0"/>
                </a:moveTo>
                <a:lnTo>
                  <a:pt x="5856480" y="0"/>
                </a:lnTo>
                <a:lnTo>
                  <a:pt x="5856480" y="7284179"/>
                </a:lnTo>
                <a:lnTo>
                  <a:pt x="0" y="7284179"/>
                </a:lnTo>
                <a:lnTo>
                  <a:pt x="0" y="0"/>
                </a:lnTo>
                <a:close/>
              </a:path>
            </a:pathLst>
          </a:custGeom>
          <a:blipFill>
            <a:blip r:embed="rId2"/>
            <a:stretch>
              <a:fillRect l="0" t="0" r="0" b="0"/>
            </a:stretch>
          </a:blipFill>
        </p:spPr>
      </p:sp>
      <p:sp>
        <p:nvSpPr>
          <p:cNvPr name="TextBox 4" id="4"/>
          <p:cNvSpPr txBox="true"/>
          <p:nvPr/>
        </p:nvSpPr>
        <p:spPr>
          <a:xfrm rot="0">
            <a:off x="-292986" y="159464"/>
            <a:ext cx="5373114"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Introduction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915277" y="1712107"/>
            <a:ext cx="5856480" cy="7284179"/>
          </a:xfrm>
          <a:custGeom>
            <a:avLst/>
            <a:gdLst/>
            <a:ahLst/>
            <a:cxnLst/>
            <a:rect r="r" b="b" t="t" l="l"/>
            <a:pathLst>
              <a:path h="7284179" w="5856480">
                <a:moveTo>
                  <a:pt x="0" y="0"/>
                </a:moveTo>
                <a:lnTo>
                  <a:pt x="5856480" y="0"/>
                </a:lnTo>
                <a:lnTo>
                  <a:pt x="5856480" y="7284179"/>
                </a:lnTo>
                <a:lnTo>
                  <a:pt x="0" y="7284179"/>
                </a:lnTo>
                <a:lnTo>
                  <a:pt x="0" y="0"/>
                </a:lnTo>
                <a:close/>
              </a:path>
            </a:pathLst>
          </a:custGeom>
          <a:blipFill>
            <a:blip r:embed="rId2"/>
            <a:stretch>
              <a:fillRect l="0" t="0" r="0" b="0"/>
            </a:stretch>
          </a:blipFill>
        </p:spPr>
      </p:sp>
      <p:sp>
        <p:nvSpPr>
          <p:cNvPr name="TextBox 3" id="3"/>
          <p:cNvSpPr txBox="true"/>
          <p:nvPr/>
        </p:nvSpPr>
        <p:spPr>
          <a:xfrm rot="0">
            <a:off x="807662" y="1181378"/>
            <a:ext cx="11872988" cy="7819469"/>
          </a:xfrm>
          <a:prstGeom prst="rect">
            <a:avLst/>
          </a:prstGeom>
        </p:spPr>
        <p:txBody>
          <a:bodyPr anchor="t" rtlCol="false" tIns="0" lIns="0" bIns="0" rIns="0">
            <a:spAutoFit/>
          </a:bodyPr>
          <a:lstStyle/>
          <a:p>
            <a:pPr algn="just">
              <a:lnSpc>
                <a:spcPts val="4755"/>
              </a:lnSpc>
            </a:pPr>
            <a:r>
              <a:rPr lang="en-US" sz="3396">
                <a:solidFill>
                  <a:srgbClr val="000000"/>
                </a:solidFill>
                <a:latin typeface="Crimson Roman"/>
                <a:ea typeface="Crimson Roman"/>
                <a:cs typeface="Crimson Roman"/>
                <a:sym typeface="Crimson Roman"/>
              </a:rPr>
              <a:t>Objectives:</a:t>
            </a:r>
          </a:p>
          <a:p>
            <a:pPr algn="just" marL="733386" indent="-366693" lvl="1">
              <a:lnSpc>
                <a:spcPts val="4755"/>
              </a:lnSpc>
              <a:buFont typeface="Arial"/>
              <a:buChar char="•"/>
            </a:pPr>
            <a:r>
              <a:rPr lang="en-US" sz="3396">
                <a:solidFill>
                  <a:srgbClr val="000000"/>
                </a:solidFill>
                <a:latin typeface="Crimson Roman"/>
                <a:ea typeface="Crimson Roman"/>
                <a:cs typeface="Crimson Roman"/>
                <a:sym typeface="Crimson Roman"/>
              </a:rPr>
              <a:t>General Objective:</a:t>
            </a:r>
          </a:p>
          <a:p>
            <a:pPr algn="just" marL="1466772" indent="-488924" lvl="2">
              <a:lnSpc>
                <a:spcPts val="4755"/>
              </a:lnSpc>
              <a:buFont typeface="Arial"/>
              <a:buChar char="⚬"/>
            </a:pPr>
            <a:r>
              <a:rPr lang="en-US" sz="3396">
                <a:solidFill>
                  <a:srgbClr val="000000"/>
                </a:solidFill>
                <a:latin typeface="Crimson Roman"/>
                <a:ea typeface="Crimson Roman"/>
                <a:cs typeface="Crimson Roman"/>
                <a:sym typeface="Crimson Roman"/>
              </a:rPr>
              <a:t>To build a restaurant delivery robot system capable of operating autonomously, stably, and safely in a real restaurant environment.</a:t>
            </a:r>
          </a:p>
          <a:p>
            <a:pPr algn="just" marL="733386" indent="-366693" lvl="1">
              <a:lnSpc>
                <a:spcPts val="4755"/>
              </a:lnSpc>
              <a:buFont typeface="Arial"/>
              <a:buChar char="•"/>
            </a:pPr>
            <a:r>
              <a:rPr lang="en-US" sz="3396">
                <a:solidFill>
                  <a:srgbClr val="000000"/>
                </a:solidFill>
                <a:latin typeface="Crimson Roman"/>
                <a:ea typeface="Crimson Roman"/>
                <a:cs typeface="Crimson Roman"/>
                <a:sym typeface="Crimson Roman"/>
              </a:rPr>
              <a:t>Specific Objectives:</a:t>
            </a:r>
          </a:p>
          <a:p>
            <a:pPr algn="just" marL="1466772" indent="-488924" lvl="2">
              <a:lnSpc>
                <a:spcPts val="4755"/>
              </a:lnSpc>
              <a:buFont typeface="Arial"/>
              <a:buChar char="⚬"/>
            </a:pPr>
            <a:r>
              <a:rPr lang="en-US" sz="3396">
                <a:solidFill>
                  <a:srgbClr val="000000"/>
                </a:solidFill>
                <a:latin typeface="Crimson Roman"/>
                <a:ea typeface="Crimson Roman"/>
                <a:cs typeface="Crimson Roman"/>
                <a:sym typeface="Crimson Roman"/>
              </a:rPr>
              <a:t>Receive and process orders via WiFi connection</a:t>
            </a:r>
          </a:p>
          <a:p>
            <a:pPr algn="just" marL="1466772" indent="-488924" lvl="2">
              <a:lnSpc>
                <a:spcPts val="4755"/>
              </a:lnSpc>
              <a:buFont typeface="Arial"/>
              <a:buChar char="⚬"/>
            </a:pPr>
            <a:r>
              <a:rPr lang="en-US" sz="3396">
                <a:solidFill>
                  <a:srgbClr val="000000"/>
                </a:solidFill>
                <a:latin typeface="Crimson Roman"/>
                <a:ea typeface="Crimson Roman"/>
                <a:cs typeface="Crimson Roman"/>
                <a:sym typeface="Crimson Roman"/>
              </a:rPr>
              <a:t>Navigate the robot to the desired destination</a:t>
            </a:r>
          </a:p>
          <a:p>
            <a:pPr algn="just" marL="1466772" indent="-488924" lvl="2">
              <a:lnSpc>
                <a:spcPts val="4755"/>
              </a:lnSpc>
              <a:buFont typeface="Arial"/>
              <a:buChar char="⚬"/>
            </a:pPr>
            <a:r>
              <a:rPr lang="en-US" sz="3396">
                <a:solidFill>
                  <a:srgbClr val="000000"/>
                </a:solidFill>
                <a:latin typeface="Crimson Roman"/>
                <a:ea typeface="Crimson Roman"/>
                <a:cs typeface="Crimson Roman"/>
                <a:sym typeface="Crimson Roman"/>
              </a:rPr>
              <a:t>Detect and avoid obstacles in real time</a:t>
            </a:r>
          </a:p>
          <a:p>
            <a:pPr algn="just" marL="1466772" indent="-488924" lvl="2">
              <a:lnSpc>
                <a:spcPts val="4755"/>
              </a:lnSpc>
              <a:buFont typeface="Arial"/>
              <a:buChar char="⚬"/>
            </a:pPr>
            <a:r>
              <a:rPr lang="en-US" sz="3396">
                <a:solidFill>
                  <a:srgbClr val="000000"/>
                </a:solidFill>
                <a:latin typeface="Crimson Roman"/>
                <a:ea typeface="Crimson Roman"/>
                <a:cs typeface="Crimson Roman"/>
                <a:sym typeface="Crimson Roman"/>
              </a:rPr>
              <a:t>Perform an emergency stop when a hazard occurs</a:t>
            </a:r>
          </a:p>
          <a:p>
            <a:pPr algn="just" marL="1466772" indent="-488924" lvl="2">
              <a:lnSpc>
                <a:spcPts val="4755"/>
              </a:lnSpc>
              <a:buFont typeface="Arial"/>
              <a:buChar char="⚬"/>
            </a:pPr>
            <a:r>
              <a:rPr lang="en-US" sz="3396">
                <a:solidFill>
                  <a:srgbClr val="000000"/>
                </a:solidFill>
                <a:latin typeface="Crimson Roman"/>
                <a:ea typeface="Crimson Roman"/>
                <a:cs typeface="Crimson Roman"/>
                <a:sym typeface="Crimson Roman"/>
              </a:rPr>
              <a:t>Return to the base position after completing a delivery</a:t>
            </a:r>
          </a:p>
          <a:p>
            <a:pPr algn="just" marL="1466772" indent="-488924" lvl="2">
              <a:lnSpc>
                <a:spcPts val="4755"/>
              </a:lnSpc>
              <a:buFont typeface="Arial"/>
              <a:buChar char="⚬"/>
            </a:pPr>
            <a:r>
              <a:rPr lang="en-US" sz="3396">
                <a:solidFill>
                  <a:srgbClr val="000000"/>
                </a:solidFill>
                <a:latin typeface="Crimson Roman"/>
                <a:ea typeface="Crimson Roman"/>
                <a:cs typeface="Crimson Roman"/>
                <a:sym typeface="Crimson Roman"/>
              </a:rPr>
              <a:t>Enable communication between MCUs via CAN Bus</a:t>
            </a:r>
          </a:p>
          <a:p>
            <a:pPr algn="just" marL="1466772" indent="-488924" lvl="2">
              <a:lnSpc>
                <a:spcPts val="4755"/>
              </a:lnSpc>
              <a:spcBef>
                <a:spcPct val="0"/>
              </a:spcBef>
              <a:buFont typeface="Arial"/>
              <a:buChar char="⚬"/>
            </a:pPr>
            <a:r>
              <a:rPr lang="en-US" sz="3396">
                <a:solidFill>
                  <a:srgbClr val="000000"/>
                </a:solidFill>
                <a:latin typeface="Crimson Roman"/>
                <a:ea typeface="Crimson Roman"/>
                <a:cs typeface="Crimson Roman"/>
                <a:sym typeface="Crimson Roman"/>
              </a:rPr>
              <a:t>Apply FreeRTOS for efficient multitasking management</a:t>
            </a:r>
          </a:p>
        </p:txBody>
      </p:sp>
      <p:sp>
        <p:nvSpPr>
          <p:cNvPr name="TextBox 4" id="4"/>
          <p:cNvSpPr txBox="true"/>
          <p:nvPr/>
        </p:nvSpPr>
        <p:spPr>
          <a:xfrm rot="0">
            <a:off x="-292986" y="159464"/>
            <a:ext cx="5373114"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Introduction</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5486400" y="4410075"/>
          <a:ext cx="7315200" cy="4848225"/>
        </p:xfrm>
        <a:graphic>
          <a:graphicData uri="http://schemas.openxmlformats.org/drawingml/2006/table">
            <a:tbl>
              <a:tblPr/>
              <a:tblGrid>
                <a:gridCol w="3657600"/>
                <a:gridCol w="3657600"/>
              </a:tblGrid>
              <a:tr h="1219257">
                <a:tc>
                  <a:txBody>
                    <a:bodyPr anchor="t" rtlCol="false"/>
                    <a:lstStyle/>
                    <a:p>
                      <a:pPr algn="ctr">
                        <a:lnSpc>
                          <a:spcPts val="4900"/>
                        </a:lnSpc>
                        <a:defRPr/>
                      </a:pPr>
                      <a:r>
                        <a:rPr lang="en-US" sz="3500" b="true">
                          <a:solidFill>
                            <a:srgbClr val="000000"/>
                          </a:solidFill>
                          <a:latin typeface="Crimson Roman Bold"/>
                          <a:ea typeface="Crimson Roman Bold"/>
                          <a:cs typeface="Crimson Roman Bold"/>
                          <a:sym typeface="Crimson Roman Bold"/>
                        </a:rPr>
                        <a:t>Node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b="true">
                          <a:solidFill>
                            <a:srgbClr val="000000"/>
                          </a:solidFill>
                          <a:latin typeface="Crimson Roman Bold"/>
                          <a:ea typeface="Crimson Roman Bold"/>
                          <a:cs typeface="Crimson Roman Bold"/>
                          <a:sym typeface="Crimson Roman Bold"/>
                        </a:rPr>
                        <a:t>ID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09656">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ESP32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0x01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09656">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STM32H5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0x02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09656">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STM32H5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0x03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292986" y="159464"/>
            <a:ext cx="9591537"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1. System Architecture</a:t>
            </a:r>
          </a:p>
        </p:txBody>
      </p:sp>
      <p:sp>
        <p:nvSpPr>
          <p:cNvPr name="TextBox 4" id="4"/>
          <p:cNvSpPr txBox="true"/>
          <p:nvPr/>
        </p:nvSpPr>
        <p:spPr>
          <a:xfrm rot="0">
            <a:off x="403171" y="1343947"/>
            <a:ext cx="13104852" cy="2501900"/>
          </a:xfrm>
          <a:prstGeom prst="rect">
            <a:avLst/>
          </a:prstGeom>
        </p:spPr>
        <p:txBody>
          <a:bodyPr anchor="t" rtlCol="false" tIns="0" lIns="0" bIns="0" rIns="0">
            <a:spAutoFit/>
          </a:bodyPr>
          <a:lstStyle/>
          <a:p>
            <a:pPr algn="l">
              <a:lnSpc>
                <a:spcPts val="4900"/>
              </a:lnSpc>
              <a:spcBef>
                <a:spcPct val="0"/>
              </a:spcBef>
            </a:pPr>
            <a:r>
              <a:rPr lang="en-US" sz="3500">
                <a:solidFill>
                  <a:srgbClr val="000000"/>
                </a:solidFill>
                <a:latin typeface="Crimson Roman"/>
                <a:ea typeface="Crimson Roman"/>
                <a:cs typeface="Crimson Roman"/>
                <a:sym typeface="Crimson Roman"/>
              </a:rPr>
              <a:t>System Architecture: </a:t>
            </a:r>
            <a:r>
              <a:rPr lang="en-US" sz="3500">
                <a:solidFill>
                  <a:srgbClr val="000000"/>
                </a:solidFill>
                <a:latin typeface="Crimson Roman"/>
                <a:ea typeface="Crimson Roman"/>
                <a:cs typeface="Crimson Roman"/>
                <a:sym typeface="Crimson Roman"/>
              </a:rPr>
              <a:t>3 nodes on CAN Bus:</a:t>
            </a:r>
          </a:p>
          <a:p>
            <a:pPr algn="l" marL="755651" indent="-377825" lvl="1">
              <a:lnSpc>
                <a:spcPts val="4900"/>
              </a:lnSpc>
              <a:buFont typeface="Arial"/>
              <a:buChar char="•"/>
            </a:pPr>
            <a:r>
              <a:rPr lang="en-US" sz="3500">
                <a:solidFill>
                  <a:srgbClr val="000000"/>
                </a:solidFill>
                <a:latin typeface="Crimson Roman"/>
                <a:ea typeface="Crimson Roman"/>
                <a:cs typeface="Crimson Roman"/>
                <a:sym typeface="Crimson Roman"/>
              </a:rPr>
              <a:t>ESP32 (MCU1) — Brain / WiFi / Mission Controller / OLED Display</a:t>
            </a:r>
          </a:p>
          <a:p>
            <a:pPr algn="l" marL="755651" indent="-377825" lvl="1">
              <a:lnSpc>
                <a:spcPts val="4900"/>
              </a:lnSpc>
              <a:buFont typeface="Arial"/>
              <a:buChar char="•"/>
            </a:pPr>
            <a:r>
              <a:rPr lang="en-US" sz="3500">
                <a:solidFill>
                  <a:srgbClr val="000000"/>
                </a:solidFill>
                <a:latin typeface="Crimson Roman"/>
                <a:ea typeface="Crimson Roman"/>
                <a:cs typeface="Crimson Roman"/>
                <a:sym typeface="Crimson Roman"/>
              </a:rPr>
              <a:t>STM32H5 (MCU2) — Motion &amp; Navigation Controller</a:t>
            </a:r>
          </a:p>
          <a:p>
            <a:pPr algn="l" marL="755651" indent="-377825" lvl="1">
              <a:lnSpc>
                <a:spcPts val="4900"/>
              </a:lnSpc>
              <a:buFont typeface="Arial"/>
              <a:buChar char="•"/>
            </a:pPr>
            <a:r>
              <a:rPr lang="en-US" sz="3500">
                <a:solidFill>
                  <a:srgbClr val="000000"/>
                </a:solidFill>
                <a:latin typeface="Crimson Roman"/>
                <a:ea typeface="Crimson Roman"/>
                <a:cs typeface="Crimson Roman"/>
                <a:sym typeface="Crimson Roman"/>
              </a:rPr>
              <a:t>STM32H5 (MCU3) — Perception &amp; Safety Controller</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552121" y="3721904"/>
          <a:ext cx="4792990" cy="4848225"/>
        </p:xfrm>
        <a:graphic>
          <a:graphicData uri="http://schemas.openxmlformats.org/drawingml/2006/table">
            <a:tbl>
              <a:tblPr/>
              <a:tblGrid>
                <a:gridCol w="2396495"/>
                <a:gridCol w="2396495"/>
              </a:tblGrid>
              <a:tr h="1219257">
                <a:tc>
                  <a:txBody>
                    <a:bodyPr anchor="t" rtlCol="false"/>
                    <a:lstStyle/>
                    <a:p>
                      <a:pPr algn="ctr">
                        <a:lnSpc>
                          <a:spcPts val="4900"/>
                        </a:lnSpc>
                        <a:defRPr/>
                      </a:pPr>
                      <a:r>
                        <a:rPr lang="en-US" sz="3500" b="true">
                          <a:solidFill>
                            <a:srgbClr val="000000"/>
                          </a:solidFill>
                          <a:latin typeface="Crimson Roman Bold"/>
                          <a:ea typeface="Crimson Roman Bold"/>
                          <a:cs typeface="Crimson Roman Bold"/>
                          <a:sym typeface="Crimson Roman Bold"/>
                        </a:rPr>
                        <a:t>Node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b="true">
                          <a:solidFill>
                            <a:srgbClr val="000000"/>
                          </a:solidFill>
                          <a:latin typeface="Crimson Roman Bold"/>
                          <a:ea typeface="Crimson Roman Bold"/>
                          <a:cs typeface="Crimson Roman Bold"/>
                          <a:sym typeface="Crimson Roman Bold"/>
                        </a:rPr>
                        <a:t>ID</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09656">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ESP32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0x01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09656">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STM32H5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0x02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209656">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STM32H5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a:solidFill>
                            <a:srgbClr val="000000"/>
                          </a:solidFill>
                          <a:latin typeface="Crimson Roman"/>
                          <a:ea typeface="Crimson Roman"/>
                          <a:cs typeface="Crimson Roman"/>
                          <a:sym typeface="Crimson Roman"/>
                        </a:rPr>
                        <a:t>0x03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3" id="3"/>
          <p:cNvSpPr txBox="true"/>
          <p:nvPr/>
        </p:nvSpPr>
        <p:spPr>
          <a:xfrm rot="0">
            <a:off x="419952" y="1349731"/>
            <a:ext cx="7146032" cy="1894681"/>
          </a:xfrm>
          <a:prstGeom prst="rect">
            <a:avLst/>
          </a:prstGeom>
        </p:spPr>
        <p:txBody>
          <a:bodyPr anchor="t" rtlCol="false" tIns="0" lIns="0" bIns="0" rIns="0">
            <a:spAutoFit/>
          </a:bodyPr>
          <a:lstStyle/>
          <a:p>
            <a:pPr algn="l">
              <a:lnSpc>
                <a:spcPts val="4900"/>
              </a:lnSpc>
            </a:pPr>
            <a:r>
              <a:rPr lang="en-US" sz="3500">
                <a:solidFill>
                  <a:srgbClr val="000000"/>
                </a:solidFill>
                <a:latin typeface="Crimson Roman"/>
                <a:ea typeface="Crimson Roman"/>
                <a:cs typeface="Crimson Roman"/>
                <a:sym typeface="Crimson Roman"/>
              </a:rPr>
              <a:t>M</a:t>
            </a:r>
            <a:r>
              <a:rPr lang="en-US" sz="3500">
                <a:solidFill>
                  <a:srgbClr val="000000"/>
                </a:solidFill>
                <a:latin typeface="Crimson Roman"/>
                <a:ea typeface="Crimson Roman"/>
                <a:cs typeface="Crimson Roman"/>
                <a:sym typeface="Crimson Roman"/>
              </a:rPr>
              <a:t>ess</a:t>
            </a:r>
            <a:r>
              <a:rPr lang="en-US" sz="3500">
                <a:solidFill>
                  <a:srgbClr val="000000"/>
                </a:solidFill>
                <a:latin typeface="Crimson Roman"/>
                <a:ea typeface="Crimson Roman"/>
                <a:cs typeface="Crimson Roman"/>
                <a:sym typeface="Crimson Roman"/>
              </a:rPr>
              <a:t>age ID Structure (11-bit):</a:t>
            </a:r>
          </a:p>
          <a:p>
            <a:pPr algn="l" marL="755651" indent="-377825" lvl="1">
              <a:lnSpc>
                <a:spcPts val="4900"/>
              </a:lnSpc>
              <a:buFont typeface="Arial"/>
              <a:buChar char="•"/>
            </a:pPr>
            <a:r>
              <a:rPr lang="en-US" sz="3500">
                <a:solidFill>
                  <a:srgbClr val="000000"/>
                </a:solidFill>
                <a:latin typeface="Crimson Roman"/>
                <a:ea typeface="Crimson Roman"/>
                <a:cs typeface="Crimson Roman"/>
                <a:sym typeface="Crimson Roman"/>
              </a:rPr>
              <a:t>Bits [10:8] = Sender Node ID</a:t>
            </a:r>
          </a:p>
          <a:p>
            <a:pPr algn="l" marL="755651" indent="-377825" lvl="1">
              <a:lnSpc>
                <a:spcPts val="4900"/>
              </a:lnSpc>
              <a:buFont typeface="Arial"/>
              <a:buChar char="•"/>
            </a:pPr>
            <a:r>
              <a:rPr lang="en-US" sz="3500">
                <a:solidFill>
                  <a:srgbClr val="000000"/>
                </a:solidFill>
                <a:latin typeface="Crimson Roman"/>
                <a:ea typeface="Crimson Roman"/>
                <a:cs typeface="Crimson Roman"/>
                <a:sym typeface="Crimson Roman"/>
              </a:rPr>
              <a:t>Bits [7:0]  = Message Type</a:t>
            </a:r>
          </a:p>
        </p:txBody>
      </p:sp>
      <p:graphicFrame>
        <p:nvGraphicFramePr>
          <p:cNvPr name="Table 4" id="4"/>
          <p:cNvGraphicFramePr>
            <a:graphicFrameLocks noGrp="true"/>
          </p:cNvGraphicFramePr>
          <p:nvPr/>
        </p:nvGraphicFramePr>
        <p:xfrm>
          <a:off x="8069685" y="228124"/>
          <a:ext cx="9957652" cy="9830753"/>
        </p:xfrm>
        <a:graphic>
          <a:graphicData uri="http://schemas.openxmlformats.org/drawingml/2006/table">
            <a:tbl>
              <a:tblPr/>
              <a:tblGrid>
                <a:gridCol w="2489413"/>
                <a:gridCol w="2489413"/>
                <a:gridCol w="2489413"/>
                <a:gridCol w="2489413"/>
              </a:tblGrid>
              <a:tr h="1860245">
                <a:tc>
                  <a:txBody>
                    <a:bodyPr anchor="t" rtlCol="false"/>
                    <a:lstStyle/>
                    <a:p>
                      <a:pPr algn="ctr">
                        <a:lnSpc>
                          <a:spcPts val="4900"/>
                        </a:lnSpc>
                        <a:defRPr/>
                      </a:pPr>
                      <a:r>
                        <a:rPr lang="en-US" sz="3500" b="true">
                          <a:solidFill>
                            <a:srgbClr val="000000"/>
                          </a:solidFill>
                          <a:latin typeface="Crimson Roman Bold"/>
                          <a:ea typeface="Crimson Roman Bold"/>
                          <a:cs typeface="Crimson Roman Bold"/>
                          <a:sym typeface="Crimson Roman Bold"/>
                        </a:rPr>
                        <a:t>MCU3 (0x3xx)</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b="true">
                          <a:solidFill>
                            <a:srgbClr val="000000"/>
                          </a:solidFill>
                          <a:latin typeface="Crimson Roman Bold"/>
                          <a:ea typeface="Crimson Roman Bold"/>
                          <a:cs typeface="Crimson Roman Bold"/>
                          <a:sym typeface="Crimson Roman Bold"/>
                        </a:rPr>
                        <a:t>MCU2 (0x2xx)</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b="true">
                          <a:solidFill>
                            <a:srgbClr val="000000"/>
                          </a:solidFill>
                          <a:latin typeface="Crimson Roman Bold"/>
                          <a:ea typeface="Crimson Roman Bold"/>
                          <a:cs typeface="Crimson Roman Bold"/>
                          <a:sym typeface="Crimson Roman Bold"/>
                        </a:rPr>
                        <a:t>Type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4900"/>
                        </a:lnSpc>
                        <a:defRPr/>
                      </a:pPr>
                      <a:r>
                        <a:rPr lang="en-US" sz="3500" b="true">
                          <a:solidFill>
                            <a:srgbClr val="000000"/>
                          </a:solidFill>
                          <a:latin typeface="Crimson Roman Bold"/>
                          <a:ea typeface="Crimson Roman Bold"/>
                          <a:cs typeface="Crimson Roman Bold"/>
                          <a:sym typeface="Crimson Roman Bold"/>
                        </a:rPr>
                        <a:t>MCU1 (0x1xx)</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55039">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EMERGENCY_STOP → MCU2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NAV_STATUS → MCU1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0x01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NAV_CMD → MCU2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18903">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OBSTACLE_ALERT → MCU1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ARRIVED → MCU1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0x02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RETURN_BASE → MCU2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18903">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PATH_CLEAR → MCU1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ODOMETRY → MCU1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0x03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SOFT_STOP → MCU2</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858758">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PERCEPTION_REPORT → MCU1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BUMP_ALERT → MCU1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0x04</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PERCEPTION_ARM → MCU3</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418903">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HEARTBEAT → MCU1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HEARTBEAT → MCU1</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0x05</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3499"/>
                        </a:lnSpc>
                        <a:defRPr/>
                      </a:pPr>
                      <a:r>
                        <a:rPr lang="en-US" sz="2499">
                          <a:solidFill>
                            <a:srgbClr val="000000"/>
                          </a:solidFill>
                          <a:latin typeface="Crimson Roman"/>
                          <a:ea typeface="Crimson Roman"/>
                          <a:cs typeface="Crimson Roman"/>
                          <a:sym typeface="Crimson Roman"/>
                        </a:rPr>
                        <a:t>HEARTBEAT → 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5" id="5"/>
          <p:cNvSpPr txBox="true"/>
          <p:nvPr/>
        </p:nvSpPr>
        <p:spPr>
          <a:xfrm rot="0">
            <a:off x="-292986" y="159464"/>
            <a:ext cx="887004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1. System Architecture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594377" y="0"/>
            <a:ext cx="9075464" cy="10287000"/>
          </a:xfrm>
          <a:custGeom>
            <a:avLst/>
            <a:gdLst/>
            <a:ahLst/>
            <a:cxnLst/>
            <a:rect r="r" b="b" t="t" l="l"/>
            <a:pathLst>
              <a:path h="10287000" w="9075464">
                <a:moveTo>
                  <a:pt x="0" y="0"/>
                </a:moveTo>
                <a:lnTo>
                  <a:pt x="9075464" y="0"/>
                </a:lnTo>
                <a:lnTo>
                  <a:pt x="9075464" y="10287000"/>
                </a:lnTo>
                <a:lnTo>
                  <a:pt x="0" y="10287000"/>
                </a:lnTo>
                <a:lnTo>
                  <a:pt x="0" y="0"/>
                </a:lnTo>
                <a:close/>
              </a:path>
            </a:pathLst>
          </a:custGeom>
          <a:blipFill>
            <a:blip r:embed="rId2"/>
            <a:stretch>
              <a:fillRect l="0" t="0" r="-102262" b="-119620"/>
            </a:stretch>
          </a:blipFill>
        </p:spPr>
      </p:sp>
      <p:sp>
        <p:nvSpPr>
          <p:cNvPr name="TextBox 3" id="3"/>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2. Flow chart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102375" y="105815"/>
            <a:ext cx="5969656" cy="10075369"/>
          </a:xfrm>
          <a:custGeom>
            <a:avLst/>
            <a:gdLst/>
            <a:ahLst/>
            <a:cxnLst/>
            <a:rect r="r" b="b" t="t" l="l"/>
            <a:pathLst>
              <a:path h="10075369" w="5969656">
                <a:moveTo>
                  <a:pt x="0" y="0"/>
                </a:moveTo>
                <a:lnTo>
                  <a:pt x="5969657" y="0"/>
                </a:lnTo>
                <a:lnTo>
                  <a:pt x="5969657" y="10075370"/>
                </a:lnTo>
                <a:lnTo>
                  <a:pt x="0" y="10075370"/>
                </a:lnTo>
                <a:lnTo>
                  <a:pt x="0" y="0"/>
                </a:lnTo>
                <a:close/>
              </a:path>
            </a:pathLst>
          </a:custGeom>
          <a:blipFill>
            <a:blip r:embed="rId2"/>
            <a:stretch>
              <a:fillRect l="0" t="0" r="0" b="0"/>
            </a:stretch>
          </a:blipFill>
        </p:spPr>
      </p:sp>
      <p:sp>
        <p:nvSpPr>
          <p:cNvPr name="TextBox 3" id="3"/>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2. Flow chart</a:t>
            </a:r>
          </a:p>
        </p:txBody>
      </p:sp>
      <p:sp>
        <p:nvSpPr>
          <p:cNvPr name="TextBox 4" id="4"/>
          <p:cNvSpPr txBox="true"/>
          <p:nvPr/>
        </p:nvSpPr>
        <p:spPr>
          <a:xfrm rot="0">
            <a:off x="1759179" y="2371911"/>
            <a:ext cx="5006867" cy="5362203"/>
          </a:xfrm>
          <a:prstGeom prst="rect">
            <a:avLst/>
          </a:prstGeom>
        </p:spPr>
        <p:txBody>
          <a:bodyPr anchor="t" rtlCol="false" tIns="0" lIns="0" bIns="0" rIns="0">
            <a:spAutoFit/>
          </a:bodyPr>
          <a:lstStyle/>
          <a:p>
            <a:pPr algn="l">
              <a:lnSpc>
                <a:spcPts val="8400"/>
              </a:lnSpc>
              <a:spcBef>
                <a:spcPct val="0"/>
              </a:spcBef>
            </a:pPr>
            <a:r>
              <a:rPr lang="en-US" sz="6000">
                <a:solidFill>
                  <a:srgbClr val="000000"/>
                </a:solidFill>
                <a:latin typeface="Crimson Roman"/>
                <a:ea typeface="Crimson Roman"/>
                <a:cs typeface="Crimson Roman"/>
                <a:sym typeface="Crimson Roman"/>
              </a:rPr>
              <a:t>ESP32 (MCU1) — Brain, WiFi, Mission Controller, OLED Display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315643" y="0"/>
            <a:ext cx="9026842" cy="10287000"/>
          </a:xfrm>
          <a:custGeom>
            <a:avLst/>
            <a:gdLst/>
            <a:ahLst/>
            <a:cxnLst/>
            <a:rect r="r" b="b" t="t" l="l"/>
            <a:pathLst>
              <a:path h="10287000" w="9026842">
                <a:moveTo>
                  <a:pt x="0" y="0"/>
                </a:moveTo>
                <a:lnTo>
                  <a:pt x="9026843" y="0"/>
                </a:lnTo>
                <a:lnTo>
                  <a:pt x="9026843"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3046852"/>
            <a:ext cx="5006867" cy="5362203"/>
          </a:xfrm>
          <a:prstGeom prst="rect">
            <a:avLst/>
          </a:prstGeom>
        </p:spPr>
        <p:txBody>
          <a:bodyPr anchor="t" rtlCol="false" tIns="0" lIns="0" bIns="0" rIns="0">
            <a:spAutoFit/>
          </a:bodyPr>
          <a:lstStyle/>
          <a:p>
            <a:pPr algn="l">
              <a:lnSpc>
                <a:spcPts val="8400"/>
              </a:lnSpc>
              <a:spcBef>
                <a:spcPct val="0"/>
              </a:spcBef>
            </a:pPr>
            <a:r>
              <a:rPr lang="en-US" sz="6000">
                <a:solidFill>
                  <a:srgbClr val="000000"/>
                </a:solidFill>
                <a:latin typeface="Crimson Roman"/>
                <a:ea typeface="Crimson Roman"/>
                <a:cs typeface="Crimson Roman"/>
                <a:sym typeface="Crimson Roman"/>
              </a:rPr>
              <a:t>ESP32 (MCU1) — Brain, WiFi, Mission Controller, OLED Display</a:t>
            </a:r>
          </a:p>
        </p:txBody>
      </p:sp>
      <p:sp>
        <p:nvSpPr>
          <p:cNvPr name="TextBox 4" id="4"/>
          <p:cNvSpPr txBox="true"/>
          <p:nvPr/>
        </p:nvSpPr>
        <p:spPr>
          <a:xfrm rot="0">
            <a:off x="1028700" y="1911722"/>
            <a:ext cx="7297788" cy="1095375"/>
          </a:xfrm>
          <a:prstGeom prst="rect">
            <a:avLst/>
          </a:prstGeom>
        </p:spPr>
        <p:txBody>
          <a:bodyPr anchor="t" rtlCol="false" tIns="0" lIns="0" bIns="0" rIns="0">
            <a:spAutoFit/>
          </a:bodyPr>
          <a:lstStyle/>
          <a:p>
            <a:pPr algn="l">
              <a:lnSpc>
                <a:spcPts val="8400"/>
              </a:lnSpc>
              <a:spcBef>
                <a:spcPct val="0"/>
              </a:spcBef>
            </a:pPr>
            <a:r>
              <a:rPr lang="en-US" sz="6000">
                <a:solidFill>
                  <a:srgbClr val="000000"/>
                </a:solidFill>
                <a:latin typeface="Crimson Roman"/>
                <a:ea typeface="Crimson Roman"/>
                <a:cs typeface="Crimson Roman"/>
                <a:sym typeface="Crimson Roman"/>
              </a:rPr>
              <a:t>State machine task</a:t>
            </a:r>
          </a:p>
        </p:txBody>
      </p:sp>
      <p:sp>
        <p:nvSpPr>
          <p:cNvPr name="TextBox 5" id="5"/>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2. Flow chart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994206" y="0"/>
            <a:ext cx="11929443" cy="10287000"/>
          </a:xfrm>
          <a:custGeom>
            <a:avLst/>
            <a:gdLst/>
            <a:ahLst/>
            <a:cxnLst/>
            <a:rect r="r" b="b" t="t" l="l"/>
            <a:pathLst>
              <a:path h="10287000" w="11929443">
                <a:moveTo>
                  <a:pt x="0" y="0"/>
                </a:moveTo>
                <a:lnTo>
                  <a:pt x="11929443" y="0"/>
                </a:lnTo>
                <a:lnTo>
                  <a:pt x="11929443" y="10287000"/>
                </a:lnTo>
                <a:lnTo>
                  <a:pt x="0" y="10287000"/>
                </a:lnTo>
                <a:lnTo>
                  <a:pt x="0" y="0"/>
                </a:lnTo>
                <a:close/>
              </a:path>
            </a:pathLst>
          </a:custGeom>
          <a:blipFill>
            <a:blip r:embed="rId2"/>
            <a:stretch>
              <a:fillRect l="0" t="0" r="0" b="-98657"/>
            </a:stretch>
          </a:blipFill>
        </p:spPr>
      </p:sp>
      <p:sp>
        <p:nvSpPr>
          <p:cNvPr name="TextBox 3" id="3"/>
          <p:cNvSpPr txBox="true"/>
          <p:nvPr/>
        </p:nvSpPr>
        <p:spPr>
          <a:xfrm rot="0">
            <a:off x="179416" y="1819009"/>
            <a:ext cx="5232809" cy="5362203"/>
          </a:xfrm>
          <a:prstGeom prst="rect">
            <a:avLst/>
          </a:prstGeom>
        </p:spPr>
        <p:txBody>
          <a:bodyPr anchor="t" rtlCol="false" tIns="0" lIns="0" bIns="0" rIns="0">
            <a:spAutoFit/>
          </a:bodyPr>
          <a:lstStyle/>
          <a:p>
            <a:pPr algn="ctr">
              <a:lnSpc>
                <a:spcPts val="8400"/>
              </a:lnSpc>
              <a:spcBef>
                <a:spcPct val="0"/>
              </a:spcBef>
            </a:pPr>
            <a:r>
              <a:rPr lang="en-US" sz="6000">
                <a:solidFill>
                  <a:srgbClr val="000000"/>
                </a:solidFill>
                <a:latin typeface="Crimson Roman"/>
                <a:ea typeface="Crimson Roman"/>
                <a:cs typeface="Crimson Roman"/>
                <a:sym typeface="Crimson Roman"/>
              </a:rPr>
              <a:t>STM32H5 (MCU2) — Motion &amp; Navigation Controller</a:t>
            </a:r>
          </a:p>
        </p:txBody>
      </p:sp>
      <p:sp>
        <p:nvSpPr>
          <p:cNvPr name="TextBox 4" id="4"/>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2. Flow chart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314591" y="-307570"/>
            <a:ext cx="12158431" cy="10287000"/>
          </a:xfrm>
          <a:custGeom>
            <a:avLst/>
            <a:gdLst/>
            <a:ahLst/>
            <a:cxnLst/>
            <a:rect r="r" b="b" t="t" l="l"/>
            <a:pathLst>
              <a:path h="10287000" w="12158431">
                <a:moveTo>
                  <a:pt x="0" y="0"/>
                </a:moveTo>
                <a:lnTo>
                  <a:pt x="12158431" y="0"/>
                </a:lnTo>
                <a:lnTo>
                  <a:pt x="12158431" y="10287000"/>
                </a:lnTo>
                <a:lnTo>
                  <a:pt x="0" y="10287000"/>
                </a:lnTo>
                <a:lnTo>
                  <a:pt x="0" y="0"/>
                </a:lnTo>
                <a:close/>
              </a:path>
            </a:pathLst>
          </a:custGeom>
          <a:blipFill>
            <a:blip r:embed="rId2"/>
            <a:stretch>
              <a:fillRect l="0" t="-102470" r="0" b="0"/>
            </a:stretch>
          </a:blipFill>
        </p:spPr>
      </p:sp>
      <p:sp>
        <p:nvSpPr>
          <p:cNvPr name="TextBox 3" id="3"/>
          <p:cNvSpPr txBox="true"/>
          <p:nvPr/>
        </p:nvSpPr>
        <p:spPr>
          <a:xfrm rot="0">
            <a:off x="179416" y="1819009"/>
            <a:ext cx="5232809" cy="5362203"/>
          </a:xfrm>
          <a:prstGeom prst="rect">
            <a:avLst/>
          </a:prstGeom>
        </p:spPr>
        <p:txBody>
          <a:bodyPr anchor="t" rtlCol="false" tIns="0" lIns="0" bIns="0" rIns="0">
            <a:spAutoFit/>
          </a:bodyPr>
          <a:lstStyle/>
          <a:p>
            <a:pPr algn="ctr">
              <a:lnSpc>
                <a:spcPts val="8400"/>
              </a:lnSpc>
              <a:spcBef>
                <a:spcPct val="0"/>
              </a:spcBef>
            </a:pPr>
            <a:r>
              <a:rPr lang="en-US" sz="6000">
                <a:solidFill>
                  <a:srgbClr val="000000"/>
                </a:solidFill>
                <a:latin typeface="Crimson Roman"/>
                <a:ea typeface="Crimson Roman"/>
                <a:cs typeface="Crimson Roman"/>
                <a:sym typeface="Crimson Roman"/>
              </a:rPr>
              <a:t>STM32H5 (MCU2) — Motion &amp; Navigation Controller</a:t>
            </a:r>
          </a:p>
        </p:txBody>
      </p:sp>
      <p:sp>
        <p:nvSpPr>
          <p:cNvPr name="TextBox 4" id="4"/>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2. Flow chart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872742" y="598591"/>
            <a:ext cx="13415258" cy="8804145"/>
          </a:xfrm>
          <a:custGeom>
            <a:avLst/>
            <a:gdLst/>
            <a:ahLst/>
            <a:cxnLst/>
            <a:rect r="r" b="b" t="t" l="l"/>
            <a:pathLst>
              <a:path h="8804145" w="13415258">
                <a:moveTo>
                  <a:pt x="0" y="0"/>
                </a:moveTo>
                <a:lnTo>
                  <a:pt x="13415258" y="0"/>
                </a:lnTo>
                <a:lnTo>
                  <a:pt x="13415258" y="8804145"/>
                </a:lnTo>
                <a:lnTo>
                  <a:pt x="0" y="8804145"/>
                </a:lnTo>
                <a:lnTo>
                  <a:pt x="0" y="0"/>
                </a:lnTo>
                <a:close/>
              </a:path>
            </a:pathLst>
          </a:custGeom>
          <a:blipFill>
            <a:blip r:embed="rId2"/>
            <a:stretch>
              <a:fillRect l="0" t="0" r="-72138" b="0"/>
            </a:stretch>
          </a:blipFill>
        </p:spPr>
      </p:sp>
      <p:sp>
        <p:nvSpPr>
          <p:cNvPr name="TextBox 3" id="3"/>
          <p:cNvSpPr txBox="true"/>
          <p:nvPr/>
        </p:nvSpPr>
        <p:spPr>
          <a:xfrm rot="0">
            <a:off x="-292986" y="1819009"/>
            <a:ext cx="5232809" cy="5362203"/>
          </a:xfrm>
          <a:prstGeom prst="rect">
            <a:avLst/>
          </a:prstGeom>
        </p:spPr>
        <p:txBody>
          <a:bodyPr anchor="t" rtlCol="false" tIns="0" lIns="0" bIns="0" rIns="0">
            <a:spAutoFit/>
          </a:bodyPr>
          <a:lstStyle/>
          <a:p>
            <a:pPr algn="ctr">
              <a:lnSpc>
                <a:spcPts val="8400"/>
              </a:lnSpc>
              <a:spcBef>
                <a:spcPct val="0"/>
              </a:spcBef>
            </a:pPr>
            <a:r>
              <a:rPr lang="en-US" sz="6000">
                <a:solidFill>
                  <a:srgbClr val="000000"/>
                </a:solidFill>
                <a:latin typeface="Crimson Roman"/>
                <a:ea typeface="Crimson Roman"/>
                <a:cs typeface="Crimson Roman"/>
                <a:sym typeface="Crimson Roman"/>
              </a:rPr>
              <a:t>STM32H5 (MCU3) — Perception &amp; Safety Controller</a:t>
            </a:r>
          </a:p>
        </p:txBody>
      </p:sp>
      <p:sp>
        <p:nvSpPr>
          <p:cNvPr name="TextBox 4" id="4"/>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2. Flow chart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5320556" y="340439"/>
            <a:ext cx="12794701" cy="11997207"/>
          </a:xfrm>
          <a:custGeom>
            <a:avLst/>
            <a:gdLst/>
            <a:ahLst/>
            <a:cxnLst/>
            <a:rect r="r" b="b" t="t" l="l"/>
            <a:pathLst>
              <a:path h="11997207" w="12794701">
                <a:moveTo>
                  <a:pt x="0" y="0"/>
                </a:moveTo>
                <a:lnTo>
                  <a:pt x="12794701" y="0"/>
                </a:lnTo>
                <a:lnTo>
                  <a:pt x="12794701" y="11997207"/>
                </a:lnTo>
                <a:lnTo>
                  <a:pt x="0" y="11997207"/>
                </a:lnTo>
                <a:lnTo>
                  <a:pt x="0" y="0"/>
                </a:lnTo>
                <a:close/>
              </a:path>
            </a:pathLst>
          </a:custGeom>
          <a:blipFill>
            <a:blip r:embed="rId2"/>
            <a:stretch>
              <a:fillRect l="-145946" t="0" r="0" b="0"/>
            </a:stretch>
          </a:blipFill>
        </p:spPr>
      </p:sp>
      <p:sp>
        <p:nvSpPr>
          <p:cNvPr name="TextBox 3" id="3"/>
          <p:cNvSpPr txBox="true"/>
          <p:nvPr/>
        </p:nvSpPr>
        <p:spPr>
          <a:xfrm rot="0">
            <a:off x="322154" y="1883087"/>
            <a:ext cx="5232809" cy="5362203"/>
          </a:xfrm>
          <a:prstGeom prst="rect">
            <a:avLst/>
          </a:prstGeom>
        </p:spPr>
        <p:txBody>
          <a:bodyPr anchor="t" rtlCol="false" tIns="0" lIns="0" bIns="0" rIns="0">
            <a:spAutoFit/>
          </a:bodyPr>
          <a:lstStyle/>
          <a:p>
            <a:pPr algn="ctr">
              <a:lnSpc>
                <a:spcPts val="8400"/>
              </a:lnSpc>
              <a:spcBef>
                <a:spcPct val="0"/>
              </a:spcBef>
            </a:pPr>
            <a:r>
              <a:rPr lang="en-US" sz="6000">
                <a:solidFill>
                  <a:srgbClr val="000000"/>
                </a:solidFill>
                <a:latin typeface="Crimson Roman"/>
                <a:ea typeface="Crimson Roman"/>
                <a:cs typeface="Crimson Roman"/>
                <a:sym typeface="Crimson Roman"/>
              </a:rPr>
              <a:t>STM32H5 (MCU3) — Perception &amp; Safety Controller</a:t>
            </a:r>
          </a:p>
        </p:txBody>
      </p:sp>
      <p:sp>
        <p:nvSpPr>
          <p:cNvPr name="TextBox 4" id="4"/>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2. Flow chart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336426" y="1028700"/>
            <a:ext cx="13615147" cy="9258300"/>
          </a:xfrm>
          <a:custGeom>
            <a:avLst/>
            <a:gdLst/>
            <a:ahLst/>
            <a:cxnLst/>
            <a:rect r="r" b="b" t="t" l="l"/>
            <a:pathLst>
              <a:path h="9258300" w="13615147">
                <a:moveTo>
                  <a:pt x="0" y="0"/>
                </a:moveTo>
                <a:lnTo>
                  <a:pt x="13615148" y="0"/>
                </a:lnTo>
                <a:lnTo>
                  <a:pt x="13615148" y="9258300"/>
                </a:lnTo>
                <a:lnTo>
                  <a:pt x="0" y="9258300"/>
                </a:lnTo>
                <a:lnTo>
                  <a:pt x="0" y="0"/>
                </a:lnTo>
                <a:close/>
              </a:path>
            </a:pathLst>
          </a:custGeom>
          <a:blipFill>
            <a:blip r:embed="rId2"/>
            <a:stretch>
              <a:fillRect l="0" t="0" r="0" b="0"/>
            </a:stretch>
          </a:blipFill>
        </p:spPr>
      </p:sp>
      <p:sp>
        <p:nvSpPr>
          <p:cNvPr name="TextBox 3" id="3"/>
          <p:cNvSpPr txBox="true"/>
          <p:nvPr/>
        </p:nvSpPr>
        <p:spPr>
          <a:xfrm rot="0">
            <a:off x="-292986" y="-66675"/>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Use case diagram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58979" y="1518145"/>
            <a:ext cx="13731428" cy="7740155"/>
          </a:xfrm>
          <a:custGeom>
            <a:avLst/>
            <a:gdLst/>
            <a:ahLst/>
            <a:cxnLst/>
            <a:rect r="r" b="b" t="t" l="l"/>
            <a:pathLst>
              <a:path h="7740155" w="13731428">
                <a:moveTo>
                  <a:pt x="0" y="0"/>
                </a:moveTo>
                <a:lnTo>
                  <a:pt x="13731427" y="0"/>
                </a:lnTo>
                <a:lnTo>
                  <a:pt x="13731427" y="7740155"/>
                </a:lnTo>
                <a:lnTo>
                  <a:pt x="0" y="7740155"/>
                </a:lnTo>
                <a:lnTo>
                  <a:pt x="0" y="0"/>
                </a:lnTo>
                <a:close/>
              </a:path>
            </a:pathLst>
          </a:custGeom>
          <a:blipFill>
            <a:blip r:embed="rId2"/>
            <a:stretch>
              <a:fillRect l="0" t="0" r="-16523" b="0"/>
            </a:stretch>
          </a:blipFill>
        </p:spPr>
      </p:sp>
      <p:sp>
        <p:nvSpPr>
          <p:cNvPr name="TextBox 3" id="3"/>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Timeline</a:t>
            </a:r>
          </a:p>
        </p:txBody>
      </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704925" y="1368425"/>
            <a:ext cx="7479457" cy="7581900"/>
          </a:xfrm>
          <a:prstGeom prst="rect">
            <a:avLst/>
          </a:prstGeom>
        </p:spPr>
        <p:txBody>
          <a:bodyPr anchor="t" rtlCol="false" tIns="0" lIns="0" bIns="0" rIns="0">
            <a:spAutoFit/>
          </a:bodyPr>
          <a:lstStyle/>
          <a:p>
            <a:pPr algn="l">
              <a:lnSpc>
                <a:spcPts val="4619"/>
              </a:lnSpc>
            </a:pPr>
            <a:r>
              <a:rPr lang="en-US" b="true" sz="3299">
                <a:solidFill>
                  <a:srgbClr val="000000"/>
                </a:solidFill>
                <a:latin typeface="Crimson Roman Bold"/>
                <a:ea typeface="Crimson Roman Bold"/>
                <a:cs typeface="Crimson Roman Bold"/>
                <a:sym typeface="Crimson Roman Bold"/>
              </a:rPr>
              <a:t>Week</a:t>
            </a:r>
            <a:r>
              <a:rPr lang="en-US" b="true" sz="3299">
                <a:solidFill>
                  <a:srgbClr val="000000"/>
                </a:solidFill>
                <a:latin typeface="Crimson Roman Bold"/>
                <a:ea typeface="Crimson Roman Bold"/>
                <a:cs typeface="Crimson Roman Bold"/>
                <a:sym typeface="Crimson Roman Bold"/>
              </a:rPr>
              <a:t> 1 — Topic Definition:</a:t>
            </a:r>
          </a:p>
          <a:p>
            <a:pPr algn="l" marL="712468" indent="-356234" lvl="1">
              <a:lnSpc>
                <a:spcPts val="4619"/>
              </a:lnSpc>
              <a:buFont typeface="Arial"/>
              <a:buChar char="•"/>
            </a:pPr>
            <a:r>
              <a:rPr lang="en-US" sz="3299">
                <a:solidFill>
                  <a:srgbClr val="000000"/>
                </a:solidFill>
                <a:latin typeface="Crimson Roman"/>
                <a:ea typeface="Crimson Roman"/>
                <a:cs typeface="Crimson Roman"/>
                <a:sym typeface="Crimson Roman"/>
              </a:rPr>
              <a:t>Finalize topic: Service Robot</a:t>
            </a:r>
          </a:p>
          <a:p>
            <a:pPr algn="l" marL="712468" indent="-356234" lvl="1">
              <a:lnSpc>
                <a:spcPts val="4619"/>
              </a:lnSpc>
              <a:buFont typeface="Arial"/>
              <a:buChar char="•"/>
            </a:pPr>
            <a:r>
              <a:rPr lang="en-US" sz="3299">
                <a:solidFill>
                  <a:srgbClr val="000000"/>
                </a:solidFill>
                <a:latin typeface="Crimson Roman"/>
                <a:ea typeface="Crimson Roman"/>
                <a:cs typeface="Crimson Roman"/>
                <a:sym typeface="Crimson Roman"/>
              </a:rPr>
              <a:t>Write:</a:t>
            </a:r>
          </a:p>
          <a:p>
            <a:pPr algn="l" marL="1424937" indent="-474979" lvl="2">
              <a:lnSpc>
                <a:spcPts val="4619"/>
              </a:lnSpc>
              <a:buFont typeface="Arial"/>
              <a:buChar char="⚬"/>
            </a:pPr>
            <a:r>
              <a:rPr lang="en-US" sz="3299">
                <a:solidFill>
                  <a:srgbClr val="000000"/>
                </a:solidFill>
                <a:latin typeface="Crimson Roman"/>
                <a:ea typeface="Crimson Roman"/>
                <a:cs typeface="Crimson Roman"/>
                <a:sym typeface="Crimson Roman"/>
              </a:rPr>
              <a:t>Problem Sta</a:t>
            </a:r>
            <a:r>
              <a:rPr lang="en-US" sz="3299">
                <a:solidFill>
                  <a:srgbClr val="000000"/>
                </a:solidFill>
                <a:latin typeface="Crimson Roman"/>
                <a:ea typeface="Crimson Roman"/>
                <a:cs typeface="Crimson Roman"/>
                <a:sym typeface="Crimson Roman"/>
              </a:rPr>
              <a:t>tement</a:t>
            </a:r>
          </a:p>
          <a:p>
            <a:pPr algn="l" marL="1424937" indent="-474979" lvl="2">
              <a:lnSpc>
                <a:spcPts val="4619"/>
              </a:lnSpc>
              <a:buFont typeface="Arial"/>
              <a:buChar char="⚬"/>
            </a:pPr>
            <a:r>
              <a:rPr lang="en-US" sz="3299">
                <a:solidFill>
                  <a:srgbClr val="000000"/>
                </a:solidFill>
                <a:latin typeface="Crimson Roman"/>
                <a:ea typeface="Crimson Roman"/>
                <a:cs typeface="Crimson Roman"/>
                <a:sym typeface="Crimson Roman"/>
              </a:rPr>
              <a:t>Introduc</a:t>
            </a:r>
            <a:r>
              <a:rPr lang="en-US" sz="3299">
                <a:solidFill>
                  <a:srgbClr val="000000"/>
                </a:solidFill>
                <a:latin typeface="Crimson Roman"/>
                <a:ea typeface="Crimson Roman"/>
                <a:cs typeface="Crimson Roman"/>
                <a:sym typeface="Crimson Roman"/>
              </a:rPr>
              <a:t>tion</a:t>
            </a:r>
          </a:p>
          <a:p>
            <a:pPr algn="l" marL="1424937" indent="-474979" lvl="2">
              <a:lnSpc>
                <a:spcPts val="4619"/>
              </a:lnSpc>
              <a:buFont typeface="Arial"/>
              <a:buChar char="⚬"/>
            </a:pPr>
            <a:r>
              <a:rPr lang="en-US" sz="3299">
                <a:solidFill>
                  <a:srgbClr val="000000"/>
                </a:solidFill>
                <a:latin typeface="Crimson Roman"/>
                <a:ea typeface="Crimson Roman"/>
                <a:cs typeface="Crimson Roman"/>
                <a:sym typeface="Crimson Roman"/>
              </a:rPr>
              <a:t>Obje</a:t>
            </a:r>
            <a:r>
              <a:rPr lang="en-US" sz="3299">
                <a:solidFill>
                  <a:srgbClr val="000000"/>
                </a:solidFill>
                <a:latin typeface="Crimson Roman"/>
                <a:ea typeface="Crimson Roman"/>
                <a:cs typeface="Crimson Roman"/>
                <a:sym typeface="Crimson Roman"/>
              </a:rPr>
              <a:t>ctives</a:t>
            </a:r>
          </a:p>
          <a:p>
            <a:pPr algn="l" marL="712468" indent="-356234" lvl="1">
              <a:lnSpc>
                <a:spcPts val="4619"/>
              </a:lnSpc>
              <a:buFont typeface="Arial"/>
              <a:buChar char="•"/>
            </a:pPr>
            <a:r>
              <a:rPr lang="en-US" sz="3299">
                <a:solidFill>
                  <a:srgbClr val="000000"/>
                </a:solidFill>
                <a:latin typeface="Crimson Roman"/>
                <a:ea typeface="Crimson Roman"/>
                <a:cs typeface="Crimson Roman"/>
                <a:sym typeface="Crimson Roman"/>
              </a:rPr>
              <a:t>Design:</a:t>
            </a:r>
          </a:p>
          <a:p>
            <a:pPr algn="l" marL="1424937" indent="-474979" lvl="2">
              <a:lnSpc>
                <a:spcPts val="4619"/>
              </a:lnSpc>
              <a:buFont typeface="Arial"/>
              <a:buChar char="⚬"/>
            </a:pPr>
            <a:r>
              <a:rPr lang="en-US" sz="3299">
                <a:solidFill>
                  <a:srgbClr val="000000"/>
                </a:solidFill>
                <a:latin typeface="Crimson Roman"/>
                <a:ea typeface="Crimson Roman"/>
                <a:cs typeface="Crimson Roman"/>
                <a:sym typeface="Crimson Roman"/>
              </a:rPr>
              <a:t>Draw system</a:t>
            </a:r>
            <a:r>
              <a:rPr lang="en-US" sz="3299">
                <a:solidFill>
                  <a:srgbClr val="000000"/>
                </a:solidFill>
                <a:latin typeface="Crimson Roman"/>
                <a:ea typeface="Crimson Roman"/>
                <a:cs typeface="Crimson Roman"/>
                <a:sym typeface="Crimson Roman"/>
              </a:rPr>
              <a:t> block diagram (3 MCUs)</a:t>
            </a:r>
          </a:p>
          <a:p>
            <a:pPr algn="l" marL="1424937" indent="-474979" lvl="2">
              <a:lnSpc>
                <a:spcPts val="4619"/>
              </a:lnSpc>
              <a:buFont typeface="Arial"/>
              <a:buChar char="⚬"/>
            </a:pPr>
            <a:r>
              <a:rPr lang="en-US" sz="3299">
                <a:solidFill>
                  <a:srgbClr val="000000"/>
                </a:solidFill>
                <a:latin typeface="Crimson Roman"/>
                <a:ea typeface="Crimson Roman"/>
                <a:cs typeface="Crimson Roman"/>
                <a:sym typeface="Crimson Roman"/>
              </a:rPr>
              <a:t>List components</a:t>
            </a:r>
          </a:p>
          <a:p>
            <a:pPr algn="l" marL="712468" indent="-356234" lvl="1">
              <a:lnSpc>
                <a:spcPts val="4619"/>
              </a:lnSpc>
              <a:buFont typeface="Arial"/>
              <a:buChar char="•"/>
            </a:pPr>
            <a:r>
              <a:rPr lang="en-US" sz="3299">
                <a:solidFill>
                  <a:srgbClr val="000000"/>
                </a:solidFill>
                <a:latin typeface="Crimson Roman"/>
                <a:ea typeface="Crimson Roman"/>
                <a:cs typeface="Crimson Roman"/>
                <a:sym typeface="Crimson Roman"/>
              </a:rPr>
              <a:t>Output:</a:t>
            </a:r>
          </a:p>
          <a:p>
            <a:pPr algn="l" marL="1424937" indent="-474979" lvl="2">
              <a:lnSpc>
                <a:spcPts val="4619"/>
              </a:lnSpc>
              <a:buFont typeface="Arial"/>
              <a:buChar char="⚬"/>
            </a:pPr>
            <a:r>
              <a:rPr lang="en-US" sz="3299">
                <a:solidFill>
                  <a:srgbClr val="000000"/>
                </a:solidFill>
                <a:latin typeface="Crimson Roman"/>
                <a:ea typeface="Crimson Roman"/>
                <a:cs typeface="Crimson Roman"/>
                <a:sym typeface="Crimson Roman"/>
              </a:rPr>
              <a:t>Proposal slides</a:t>
            </a:r>
          </a:p>
          <a:p>
            <a:pPr algn="l" marL="1424937" indent="-474979" lvl="2">
              <a:lnSpc>
                <a:spcPts val="4619"/>
              </a:lnSpc>
              <a:buFont typeface="Arial"/>
              <a:buChar char="⚬"/>
            </a:pPr>
            <a:r>
              <a:rPr lang="en-US" sz="3299">
                <a:solidFill>
                  <a:srgbClr val="000000"/>
                </a:solidFill>
                <a:latin typeface="Crimson Roman"/>
                <a:ea typeface="Crimson Roman"/>
                <a:cs typeface="Crimson Roman"/>
                <a:sym typeface="Crimson Roman"/>
              </a:rPr>
              <a:t>System diagram</a:t>
            </a:r>
          </a:p>
        </p:txBody>
      </p:sp>
      <p:sp>
        <p:nvSpPr>
          <p:cNvPr name="TextBox 3" id="3"/>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Timeline</a:t>
            </a:r>
          </a:p>
        </p:txBody>
      </p:sp>
      <p:sp>
        <p:nvSpPr>
          <p:cNvPr name="TextBox 4" id="4"/>
          <p:cNvSpPr txBox="true"/>
          <p:nvPr/>
        </p:nvSpPr>
        <p:spPr>
          <a:xfrm rot="0">
            <a:off x="9524692" y="866457"/>
            <a:ext cx="8124468" cy="8458835"/>
          </a:xfrm>
          <a:prstGeom prst="rect">
            <a:avLst/>
          </a:prstGeom>
        </p:spPr>
        <p:txBody>
          <a:bodyPr anchor="t" rtlCol="false" tIns="0" lIns="0" bIns="0" rIns="0">
            <a:spAutoFit/>
          </a:bodyPr>
          <a:lstStyle/>
          <a:p>
            <a:pPr algn="l">
              <a:lnSpc>
                <a:spcPts val="4479"/>
              </a:lnSpc>
            </a:pPr>
            <a:r>
              <a:rPr lang="en-US" sz="3199" b="true">
                <a:solidFill>
                  <a:srgbClr val="000000"/>
                </a:solidFill>
                <a:latin typeface="Crimson Roman Bold"/>
                <a:ea typeface="Crimson Roman Bold"/>
                <a:cs typeface="Crimson Roman Bold"/>
                <a:sym typeface="Crimson Roman Bold"/>
              </a:rPr>
              <a:t>Week 2 — System Design + App/Web</a:t>
            </a:r>
          </a:p>
          <a:p>
            <a:pPr algn="l" marL="690879" indent="-345439" lvl="1">
              <a:lnSpc>
                <a:spcPts val="4479"/>
              </a:lnSpc>
              <a:buFont typeface="Arial"/>
              <a:buChar char="•"/>
            </a:pPr>
            <a:r>
              <a:rPr lang="en-US" sz="3199">
                <a:solidFill>
                  <a:srgbClr val="000000"/>
                </a:solidFill>
                <a:latin typeface="Crimson Roman"/>
                <a:ea typeface="Crimson Roman"/>
                <a:cs typeface="Crimson Roman"/>
                <a:sym typeface="Crimson Roman"/>
              </a:rPr>
              <a:t>Embedded DesignSystem architecture design:</a:t>
            </a:r>
          </a:p>
          <a:p>
            <a:pPr algn="l" marL="1381758" indent="-460586" lvl="2">
              <a:lnSpc>
                <a:spcPts val="4479"/>
              </a:lnSpc>
              <a:buFont typeface="Arial"/>
              <a:buChar char="⚬"/>
            </a:pPr>
            <a:r>
              <a:rPr lang="en-US" sz="3199">
                <a:solidFill>
                  <a:srgbClr val="000000"/>
                </a:solidFill>
                <a:latin typeface="Crimson Roman"/>
                <a:ea typeface="Crimson Roman"/>
                <a:cs typeface="Crimson Roman"/>
                <a:sym typeface="Crimson Roman"/>
              </a:rPr>
              <a:t>CAN ID table (0x101, 0x102, 0x302…)</a:t>
            </a:r>
          </a:p>
          <a:p>
            <a:pPr algn="l" marL="1381758" indent="-460586" lvl="2">
              <a:lnSpc>
                <a:spcPts val="4479"/>
              </a:lnSpc>
              <a:buFont typeface="Arial"/>
              <a:buChar char="⚬"/>
            </a:pPr>
            <a:r>
              <a:rPr lang="en-US" sz="3199">
                <a:solidFill>
                  <a:srgbClr val="000000"/>
                </a:solidFill>
                <a:latin typeface="Crimson Roman"/>
                <a:ea typeface="Crimson Roman"/>
                <a:cs typeface="Crimson Roman"/>
                <a:sym typeface="Crimson Roman"/>
              </a:rPr>
              <a:t>FreeRTOS task design for each MCU</a:t>
            </a:r>
          </a:p>
          <a:p>
            <a:pPr algn="l" marL="690879" indent="-345439" lvl="1">
              <a:lnSpc>
                <a:spcPts val="4479"/>
              </a:lnSpc>
              <a:buFont typeface="Arial"/>
              <a:buChar char="•"/>
            </a:pPr>
            <a:r>
              <a:rPr lang="en-US" sz="3199">
                <a:solidFill>
                  <a:srgbClr val="000000"/>
                </a:solidFill>
                <a:latin typeface="Crimson Roman"/>
                <a:ea typeface="Crimson Roman"/>
                <a:cs typeface="Crimson Roman"/>
                <a:sym typeface="Crimson Roman"/>
              </a:rPr>
              <a:t>App / Web DevelopmentBuild a simple web interface:</a:t>
            </a:r>
          </a:p>
          <a:p>
            <a:pPr algn="l" marL="1381758" indent="-460586" lvl="2">
              <a:lnSpc>
                <a:spcPts val="4479"/>
              </a:lnSpc>
              <a:buFont typeface="Arial"/>
              <a:buChar char="⚬"/>
            </a:pPr>
            <a:r>
              <a:rPr lang="en-US" sz="3199">
                <a:solidFill>
                  <a:srgbClr val="000000"/>
                </a:solidFill>
                <a:latin typeface="Crimson Roman"/>
                <a:ea typeface="Crimson Roman"/>
                <a:cs typeface="Crimson Roman"/>
                <a:sym typeface="Crimson Roman"/>
              </a:rPr>
              <a:t>Table selection</a:t>
            </a:r>
          </a:p>
          <a:p>
            <a:pPr algn="l" marL="1381758" indent="-460586" lvl="2">
              <a:lnSpc>
                <a:spcPts val="4479"/>
              </a:lnSpc>
              <a:buFont typeface="Arial"/>
              <a:buChar char="⚬"/>
            </a:pPr>
            <a:r>
              <a:rPr lang="en-US" sz="3199">
                <a:solidFill>
                  <a:srgbClr val="000000"/>
                </a:solidFill>
                <a:latin typeface="Crimson Roman"/>
                <a:ea typeface="Crimson Roman"/>
                <a:cs typeface="Crimson Roman"/>
                <a:sym typeface="Crimson Roman"/>
              </a:rPr>
              <a:t>Order submission</a:t>
            </a:r>
          </a:p>
          <a:p>
            <a:pPr algn="l" marL="690879" indent="-345439" lvl="1">
              <a:lnSpc>
                <a:spcPts val="4479"/>
              </a:lnSpc>
              <a:buFont typeface="Arial"/>
              <a:buChar char="•"/>
            </a:pPr>
            <a:r>
              <a:rPr lang="en-US" sz="3199">
                <a:solidFill>
                  <a:srgbClr val="000000"/>
                </a:solidFill>
                <a:latin typeface="Crimson Roman"/>
                <a:ea typeface="Crimson Roman"/>
                <a:cs typeface="Crimson Roman"/>
                <a:sym typeface="Crimson Roman"/>
              </a:rPr>
              <a:t>ESP32 side:</a:t>
            </a:r>
          </a:p>
          <a:p>
            <a:pPr algn="l" marL="1381758" indent="-460586" lvl="2">
              <a:lnSpc>
                <a:spcPts val="4479"/>
              </a:lnSpc>
              <a:buFont typeface="Arial"/>
              <a:buChar char="⚬"/>
            </a:pPr>
            <a:r>
              <a:rPr lang="en-US" sz="3199">
                <a:solidFill>
                  <a:srgbClr val="000000"/>
                </a:solidFill>
                <a:latin typeface="Crimson Roman"/>
                <a:ea typeface="Crimson Roman"/>
                <a:cs typeface="Crimson Roman"/>
                <a:sym typeface="Crimson Roman"/>
              </a:rPr>
              <a:t>HTTP server or WebSocket server</a:t>
            </a:r>
          </a:p>
          <a:p>
            <a:pPr algn="l" marL="1381758" indent="-460586" lvl="2">
              <a:lnSpc>
                <a:spcPts val="4479"/>
              </a:lnSpc>
              <a:buFont typeface="Arial"/>
              <a:buChar char="⚬"/>
            </a:pPr>
            <a:r>
              <a:rPr lang="en-US" sz="3199">
                <a:solidFill>
                  <a:srgbClr val="000000"/>
                </a:solidFill>
                <a:latin typeface="Crimson Roman"/>
                <a:ea typeface="Crimson Roman"/>
                <a:cs typeface="Crimson Roman"/>
                <a:sym typeface="Crimson Roman"/>
              </a:rPr>
              <a:t>Receive order → push to queue</a:t>
            </a:r>
          </a:p>
          <a:p>
            <a:pPr algn="l" marL="690879" indent="-345439" lvl="1">
              <a:lnSpc>
                <a:spcPts val="4479"/>
              </a:lnSpc>
              <a:buFont typeface="Arial"/>
              <a:buChar char="•"/>
            </a:pPr>
            <a:r>
              <a:rPr lang="en-US" sz="3199">
                <a:solidFill>
                  <a:srgbClr val="000000"/>
                </a:solidFill>
                <a:latin typeface="Crimson Roman"/>
                <a:ea typeface="Crimson Roman"/>
                <a:cs typeface="Crimson Roman"/>
                <a:sym typeface="Crimson Roman"/>
              </a:rPr>
              <a:t>Expected Output:Detailed system architecture diagram</a:t>
            </a:r>
          </a:p>
          <a:p>
            <a:pPr algn="l" marL="690879" indent="-345439" lvl="1">
              <a:lnSpc>
                <a:spcPts val="4479"/>
              </a:lnSpc>
              <a:buFont typeface="Arial"/>
              <a:buChar char="•"/>
            </a:pPr>
            <a:r>
              <a:rPr lang="en-US" sz="3199">
                <a:solidFill>
                  <a:srgbClr val="000000"/>
                </a:solidFill>
                <a:latin typeface="Crimson Roman"/>
                <a:ea typeface="Crimson Roman"/>
                <a:cs typeface="Crimson Roman"/>
                <a:sym typeface="Crimson Roman"/>
              </a:rPr>
              <a:t>CAN message table</a:t>
            </a:r>
          </a:p>
          <a:p>
            <a:pPr algn="l" marL="690879" indent="-345439" lvl="1">
              <a:lnSpc>
                <a:spcPts val="4479"/>
              </a:lnSpc>
              <a:buFont typeface="Arial"/>
              <a:buChar char="•"/>
            </a:pPr>
            <a:r>
              <a:rPr lang="en-US" sz="3199">
                <a:solidFill>
                  <a:srgbClr val="000000"/>
                </a:solidFill>
                <a:latin typeface="Crimson Roman"/>
                <a:ea typeface="Crimson Roman"/>
                <a:cs typeface="Crimson Roman"/>
                <a:sym typeface="Crimson Roman"/>
              </a:rPr>
              <a:t>Working web application</a:t>
            </a:r>
          </a:p>
        </p:txBody>
      </p:sp>
    </p:spTree>
  </p:cSld>
  <p:clrMapOvr>
    <a:masterClrMapping/>
  </p:clrMapOvr>
</p:sld>
</file>

<file path=ppt/slides/slide2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Timeline</a:t>
            </a:r>
          </a:p>
        </p:txBody>
      </p:sp>
      <p:sp>
        <p:nvSpPr>
          <p:cNvPr name="TextBox 3" id="3"/>
          <p:cNvSpPr txBox="true"/>
          <p:nvPr/>
        </p:nvSpPr>
        <p:spPr>
          <a:xfrm rot="0">
            <a:off x="537941" y="1885869"/>
            <a:ext cx="9314411" cy="6841491"/>
          </a:xfrm>
          <a:prstGeom prst="rect">
            <a:avLst/>
          </a:prstGeom>
        </p:spPr>
        <p:txBody>
          <a:bodyPr anchor="t" rtlCol="false" tIns="0" lIns="0" bIns="0" rIns="0">
            <a:spAutoFit/>
          </a:bodyPr>
          <a:lstStyle/>
          <a:p>
            <a:pPr algn="l">
              <a:lnSpc>
                <a:spcPts val="4899"/>
              </a:lnSpc>
            </a:pPr>
            <a:r>
              <a:rPr lang="en-US" sz="3499" b="true">
                <a:solidFill>
                  <a:srgbClr val="000000"/>
                </a:solidFill>
                <a:latin typeface="Crimson Roman Bold"/>
                <a:ea typeface="Crimson Roman Bold"/>
                <a:cs typeface="Crimson Roman Bold"/>
                <a:sym typeface="Crimson Roman Bold"/>
              </a:rPr>
              <a:t>Week 3 — Hardware + CAN + Testing</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Hardware Connection:</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ESP32 ↔ STM32 via CAN Bus</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Testing:</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Send command from web app → ESP32 → CAN Bus</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CAN communication verification</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Motor running via PWM</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Expected Output:Motor running successfully</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CAN send/receive verified and working</a:t>
            </a:r>
          </a:p>
        </p:txBody>
      </p:sp>
      <p:sp>
        <p:nvSpPr>
          <p:cNvPr name="TextBox 4" id="4"/>
          <p:cNvSpPr txBox="true"/>
          <p:nvPr/>
        </p:nvSpPr>
        <p:spPr>
          <a:xfrm rot="0">
            <a:off x="10021671" y="1885869"/>
            <a:ext cx="7728388" cy="6222366"/>
          </a:xfrm>
          <a:prstGeom prst="rect">
            <a:avLst/>
          </a:prstGeom>
        </p:spPr>
        <p:txBody>
          <a:bodyPr anchor="t" rtlCol="false" tIns="0" lIns="0" bIns="0" rIns="0">
            <a:spAutoFit/>
          </a:bodyPr>
          <a:lstStyle/>
          <a:p>
            <a:pPr algn="l">
              <a:lnSpc>
                <a:spcPts val="4899"/>
              </a:lnSpc>
            </a:pPr>
            <a:r>
              <a:rPr lang="en-US" b="true" sz="3499">
                <a:solidFill>
                  <a:srgbClr val="000000"/>
                </a:solidFill>
                <a:latin typeface="Crimson Roman Bold"/>
                <a:ea typeface="Crimson Roman Bold"/>
                <a:cs typeface="Crimson Roman Bold"/>
                <a:sym typeface="Crimson Roman Bold"/>
              </a:rPr>
              <a:t>Week</a:t>
            </a:r>
            <a:r>
              <a:rPr lang="en-US" b="true" sz="3499">
                <a:solidFill>
                  <a:srgbClr val="000000"/>
                </a:solidFill>
                <a:latin typeface="Crimson Roman Bold"/>
                <a:ea typeface="Crimson Roman Bold"/>
                <a:cs typeface="Crimson Roman Bold"/>
                <a:sym typeface="Crimson Roman Bold"/>
              </a:rPr>
              <a:t> 4 — MOTOR CONTROL + PID:</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Read encoder</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Implement PID:</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Speed control</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Test:</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Move straight</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Turn</a:t>
            </a:r>
            <a:r>
              <a:rPr lang="en-US" sz="3499">
                <a:solidFill>
                  <a:srgbClr val="000000"/>
                </a:solidFill>
                <a:latin typeface="Crimson Roman"/>
                <a:ea typeface="Crimson Roman"/>
                <a:cs typeface="Crimson Roman"/>
                <a:sym typeface="Crimson Roman"/>
              </a:rPr>
              <a:t> left/right</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Output:</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Stable r</a:t>
            </a:r>
            <a:r>
              <a:rPr lang="en-US" sz="3499">
                <a:solidFill>
                  <a:srgbClr val="000000"/>
                </a:solidFill>
                <a:latin typeface="Crimson Roman"/>
                <a:ea typeface="Crimson Roman"/>
                <a:cs typeface="Crimson Roman"/>
                <a:sym typeface="Crimson Roman"/>
              </a:rPr>
              <a:t>obot movement</a:t>
            </a:r>
          </a:p>
          <a:p>
            <a:pPr algn="l">
              <a:lnSpc>
                <a:spcPts val="4899"/>
              </a:lnSpc>
            </a:pPr>
          </a:p>
        </p:txBody>
      </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72823" y="1596382"/>
            <a:ext cx="7750416" cy="7460616"/>
          </a:xfrm>
          <a:prstGeom prst="rect">
            <a:avLst/>
          </a:prstGeom>
        </p:spPr>
        <p:txBody>
          <a:bodyPr anchor="t" rtlCol="false" tIns="0" lIns="0" bIns="0" rIns="0">
            <a:spAutoFit/>
          </a:bodyPr>
          <a:lstStyle/>
          <a:p>
            <a:pPr algn="l">
              <a:lnSpc>
                <a:spcPts val="4899"/>
              </a:lnSpc>
            </a:pPr>
            <a:r>
              <a:rPr lang="en-US" b="true" sz="3499">
                <a:solidFill>
                  <a:srgbClr val="000000"/>
                </a:solidFill>
                <a:latin typeface="Crimson Roman Bold"/>
                <a:ea typeface="Crimson Roman Bold"/>
                <a:cs typeface="Crimson Roman Bold"/>
                <a:sym typeface="Crimson Roman Bold"/>
              </a:rPr>
              <a:t>Week</a:t>
            </a:r>
            <a:r>
              <a:rPr lang="en-US" b="true" sz="3499">
                <a:solidFill>
                  <a:srgbClr val="000000"/>
                </a:solidFill>
                <a:latin typeface="Crimson Roman Bold"/>
                <a:ea typeface="Crimson Roman Bold"/>
                <a:cs typeface="Crimson Roman Bold"/>
                <a:sym typeface="Crimson Roman Bold"/>
              </a:rPr>
              <a:t> 5 — SENSOR + NAVIGATION:</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Line sensor:</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Read ADC</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Calcula</a:t>
            </a:r>
            <a:r>
              <a:rPr lang="en-US" sz="3499">
                <a:solidFill>
                  <a:srgbClr val="000000"/>
                </a:solidFill>
                <a:latin typeface="Crimson Roman"/>
                <a:ea typeface="Crimson Roman"/>
                <a:cs typeface="Crimson Roman"/>
                <a:sym typeface="Crimson Roman"/>
              </a:rPr>
              <a:t>te error</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Ultrasonic sensor:</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Measure distance</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Logic:</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Line following</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Obs</a:t>
            </a:r>
            <a:r>
              <a:rPr lang="en-US" sz="3499">
                <a:solidFill>
                  <a:srgbClr val="000000"/>
                </a:solidFill>
                <a:latin typeface="Crimson Roman"/>
                <a:ea typeface="Crimson Roman"/>
                <a:cs typeface="Crimson Roman"/>
                <a:sym typeface="Crimson Roman"/>
              </a:rPr>
              <a:t>tacle avoidance</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Output:</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Autonomous robot with obstacle avoidance</a:t>
            </a:r>
          </a:p>
        </p:txBody>
      </p:sp>
      <p:sp>
        <p:nvSpPr>
          <p:cNvPr name="TextBox 3" id="3"/>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Timeline</a:t>
            </a:r>
          </a:p>
        </p:txBody>
      </p:sp>
      <p:sp>
        <p:nvSpPr>
          <p:cNvPr name="TextBox 4" id="4"/>
          <p:cNvSpPr txBox="true"/>
          <p:nvPr/>
        </p:nvSpPr>
        <p:spPr>
          <a:xfrm rot="0">
            <a:off x="8787132" y="1596382"/>
            <a:ext cx="9028045" cy="7460616"/>
          </a:xfrm>
          <a:prstGeom prst="rect">
            <a:avLst/>
          </a:prstGeom>
        </p:spPr>
        <p:txBody>
          <a:bodyPr anchor="t" rtlCol="false" tIns="0" lIns="0" bIns="0" rIns="0">
            <a:spAutoFit/>
          </a:bodyPr>
          <a:lstStyle/>
          <a:p>
            <a:pPr algn="l">
              <a:lnSpc>
                <a:spcPts val="4899"/>
              </a:lnSpc>
            </a:pPr>
            <a:r>
              <a:rPr lang="en-US" sz="3499" b="true">
                <a:solidFill>
                  <a:srgbClr val="000000"/>
                </a:solidFill>
                <a:latin typeface="Crimson Roman Bold"/>
                <a:ea typeface="Crimson Roman Bold"/>
                <a:cs typeface="Crimson Roman Bold"/>
                <a:sym typeface="Crimson Roman Bold"/>
              </a:rPr>
              <a:t>Week 6 — Full 3-MCU Integration</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Add MCU3:</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Ultrasonic sensors + emergency stop logic</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Implement:</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Emergency stop via CAN bus</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MCU1:</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State machine implementation</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Expected Output:</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Robot able to:</a:t>
            </a:r>
          </a:p>
          <a:p>
            <a:pPr algn="l" marL="2266942" indent="-566735" lvl="3">
              <a:lnSpc>
                <a:spcPts val="4899"/>
              </a:lnSpc>
              <a:buFont typeface="Arial"/>
              <a:buChar char="￭"/>
            </a:pPr>
            <a:r>
              <a:rPr lang="en-US" sz="3499">
                <a:solidFill>
                  <a:srgbClr val="000000"/>
                </a:solidFill>
                <a:latin typeface="Crimson Roman"/>
                <a:ea typeface="Crimson Roman"/>
                <a:cs typeface="Crimson Roman"/>
                <a:sym typeface="Crimson Roman"/>
              </a:rPr>
              <a:t>Receive commands</a:t>
            </a:r>
          </a:p>
          <a:p>
            <a:pPr algn="l" marL="2266942" indent="-566735" lvl="3">
              <a:lnSpc>
                <a:spcPts val="4899"/>
              </a:lnSpc>
              <a:buFont typeface="Arial"/>
              <a:buChar char="￭"/>
            </a:pPr>
            <a:r>
              <a:rPr lang="en-US" sz="3499">
                <a:solidFill>
                  <a:srgbClr val="000000"/>
                </a:solidFill>
                <a:latin typeface="Crimson Roman"/>
                <a:ea typeface="Crimson Roman"/>
                <a:cs typeface="Crimson Roman"/>
                <a:sym typeface="Crimson Roman"/>
              </a:rPr>
              <a:t>Navigate and move</a:t>
            </a:r>
          </a:p>
          <a:p>
            <a:pPr algn="l" marL="2266942" indent="-566735" lvl="3">
              <a:lnSpc>
                <a:spcPts val="4899"/>
              </a:lnSpc>
              <a:buFont typeface="Arial"/>
              <a:buChar char="￭"/>
            </a:pPr>
            <a:r>
              <a:rPr lang="en-US" sz="3499">
                <a:solidFill>
                  <a:srgbClr val="000000"/>
                </a:solidFill>
                <a:latin typeface="Crimson Roman"/>
                <a:ea typeface="Crimson Roman"/>
                <a:cs typeface="Crimson Roman"/>
                <a:sym typeface="Crimson Roman"/>
              </a:rPr>
              <a:t>Stop when obstacle detected</a:t>
            </a: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292986" y="159464"/>
            <a:ext cx="7297788" cy="1095375"/>
          </a:xfrm>
          <a:prstGeom prst="rect">
            <a:avLst/>
          </a:prstGeom>
        </p:spPr>
        <p:txBody>
          <a:bodyPr anchor="t" rtlCol="false" tIns="0" lIns="0" bIns="0" rIns="0">
            <a:spAutoFit/>
          </a:bodyPr>
          <a:lstStyle/>
          <a:p>
            <a:pPr algn="l" marL="1295400" indent="-647700" lvl="1">
              <a:lnSpc>
                <a:spcPts val="8400"/>
              </a:lnSpc>
              <a:spcBef>
                <a:spcPct val="0"/>
              </a:spcBef>
              <a:buAutoNum type="arabicPeriod" startAt="1"/>
            </a:pPr>
            <a:r>
              <a:rPr lang="en-US" sz="6000">
                <a:solidFill>
                  <a:srgbClr val="000000"/>
                </a:solidFill>
                <a:latin typeface="Crimson Roman"/>
                <a:ea typeface="Crimson Roman"/>
                <a:cs typeface="Crimson Roman"/>
                <a:sym typeface="Crimson Roman"/>
              </a:rPr>
              <a:t>Timeline</a:t>
            </a:r>
          </a:p>
        </p:txBody>
      </p:sp>
      <p:sp>
        <p:nvSpPr>
          <p:cNvPr name="TextBox 3" id="3"/>
          <p:cNvSpPr txBox="true"/>
          <p:nvPr/>
        </p:nvSpPr>
        <p:spPr>
          <a:xfrm rot="0">
            <a:off x="1028700" y="2289492"/>
            <a:ext cx="6164393" cy="5603241"/>
          </a:xfrm>
          <a:prstGeom prst="rect">
            <a:avLst/>
          </a:prstGeom>
        </p:spPr>
        <p:txBody>
          <a:bodyPr anchor="t" rtlCol="false" tIns="0" lIns="0" bIns="0" rIns="0">
            <a:spAutoFit/>
          </a:bodyPr>
          <a:lstStyle/>
          <a:p>
            <a:pPr algn="l">
              <a:lnSpc>
                <a:spcPts val="4899"/>
              </a:lnSpc>
            </a:pPr>
            <a:r>
              <a:rPr lang="en-US" b="true" sz="3499">
                <a:solidFill>
                  <a:srgbClr val="000000"/>
                </a:solidFill>
                <a:latin typeface="Crimson Roman Bold"/>
                <a:ea typeface="Crimson Roman Bold"/>
                <a:cs typeface="Crimson Roman Bold"/>
                <a:sym typeface="Crimson Roman Bold"/>
              </a:rPr>
              <a:t>Week</a:t>
            </a:r>
            <a:r>
              <a:rPr lang="en-US" b="true" sz="3499">
                <a:solidFill>
                  <a:srgbClr val="000000"/>
                </a:solidFill>
                <a:latin typeface="Crimson Roman Bold"/>
                <a:ea typeface="Crimson Roman Bold"/>
                <a:cs typeface="Crimson Roman Bold"/>
                <a:sym typeface="Crimson Roman Bold"/>
              </a:rPr>
              <a:t> 7 — Finalization + Demo:</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Debug the entire system</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Prepare:</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S</a:t>
            </a:r>
            <a:r>
              <a:rPr lang="en-US" sz="3499">
                <a:solidFill>
                  <a:srgbClr val="000000"/>
                </a:solidFill>
                <a:latin typeface="Crimson Roman"/>
                <a:ea typeface="Crimson Roman"/>
                <a:cs typeface="Crimson Roman"/>
                <a:sym typeface="Crimson Roman"/>
              </a:rPr>
              <a:t>lides</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Rep</a:t>
            </a:r>
            <a:r>
              <a:rPr lang="en-US" sz="3499">
                <a:solidFill>
                  <a:srgbClr val="000000"/>
                </a:solidFill>
                <a:latin typeface="Crimson Roman"/>
                <a:ea typeface="Crimson Roman"/>
                <a:cs typeface="Crimson Roman"/>
                <a:sym typeface="Crimson Roman"/>
              </a:rPr>
              <a:t>ort</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D</a:t>
            </a:r>
            <a:r>
              <a:rPr lang="en-US" sz="3499">
                <a:solidFill>
                  <a:srgbClr val="000000"/>
                </a:solidFill>
                <a:latin typeface="Crimson Roman"/>
                <a:ea typeface="Crimson Roman"/>
                <a:cs typeface="Crimson Roman"/>
                <a:sym typeface="Crimson Roman"/>
              </a:rPr>
              <a:t>emo video</a:t>
            </a:r>
          </a:p>
          <a:p>
            <a:pPr algn="l" marL="755647" indent="-377824" lvl="1">
              <a:lnSpc>
                <a:spcPts val="4899"/>
              </a:lnSpc>
              <a:buFont typeface="Arial"/>
              <a:buChar char="•"/>
            </a:pPr>
            <a:r>
              <a:rPr lang="en-US" sz="3499">
                <a:solidFill>
                  <a:srgbClr val="000000"/>
                </a:solidFill>
                <a:latin typeface="Crimson Roman"/>
                <a:ea typeface="Crimson Roman"/>
                <a:cs typeface="Crimson Roman"/>
                <a:sym typeface="Crimson Roman"/>
              </a:rPr>
              <a:t>Output:</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Complete demo</a:t>
            </a:r>
          </a:p>
          <a:p>
            <a:pPr algn="l" marL="1511295" indent="-503765" lvl="2">
              <a:lnSpc>
                <a:spcPts val="4899"/>
              </a:lnSpc>
              <a:buFont typeface="Arial"/>
              <a:buChar char="⚬"/>
            </a:pPr>
            <a:r>
              <a:rPr lang="en-US" sz="3499">
                <a:solidFill>
                  <a:srgbClr val="000000"/>
                </a:solidFill>
                <a:latin typeface="Crimson Roman"/>
                <a:ea typeface="Crimson Roman"/>
                <a:cs typeface="Crimson Roman"/>
                <a:sym typeface="Crimson Roman"/>
              </a:rPr>
              <a:t>Slides + report</a:t>
            </a:r>
          </a:p>
        </p:txBody>
      </p:sp>
    </p:spTree>
  </p:cSld>
  <p:clrMapOvr>
    <a:masterClrMapping/>
  </p:clrMapOvr>
</p:sld>
</file>

<file path=ppt/slides/slide2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aphicFrame>
        <p:nvGraphicFramePr>
          <p:cNvPr name="Table 2" id="2"/>
          <p:cNvGraphicFramePr>
            <a:graphicFrameLocks noGrp="true"/>
          </p:cNvGraphicFramePr>
          <p:nvPr/>
        </p:nvGraphicFramePr>
        <p:xfrm>
          <a:off x="0" y="0"/>
          <a:ext cx="18288000" cy="10287000"/>
        </p:xfrm>
        <a:graphic>
          <a:graphicData uri="http://schemas.openxmlformats.org/drawingml/2006/table">
            <a:tbl>
              <a:tblPr/>
              <a:tblGrid>
                <a:gridCol w="4438884"/>
                <a:gridCol w="10502240"/>
                <a:gridCol w="3346877"/>
              </a:tblGrid>
              <a:tr h="1795902">
                <a:tc>
                  <a:txBody>
                    <a:bodyPr anchor="t" rtlCol="false"/>
                    <a:lstStyle/>
                    <a:p>
                      <a:pPr algn="ctr">
                        <a:lnSpc>
                          <a:spcPts val="4059"/>
                        </a:lnSpc>
                        <a:defRPr/>
                      </a:pPr>
                      <a:r>
                        <a:rPr lang="en-US" b="true" sz="2899">
                          <a:solidFill>
                            <a:srgbClr val="1C4E6B"/>
                          </a:solidFill>
                          <a:latin typeface="Asap Bold"/>
                          <a:ea typeface="Asap Bold"/>
                          <a:cs typeface="Asap Bold"/>
                          <a:sym typeface="Asap Bold"/>
                        </a:rPr>
                        <a:t>Student</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ctr">
                        <a:lnSpc>
                          <a:spcPts val="4059"/>
                        </a:lnSpc>
                        <a:defRPr/>
                      </a:pPr>
                      <a:r>
                        <a:rPr lang="en-US" sz="2899" b="true">
                          <a:solidFill>
                            <a:srgbClr val="1C4E6B"/>
                          </a:solidFill>
                          <a:latin typeface="Asap Bold"/>
                          <a:ea typeface="Asap Bold"/>
                          <a:cs typeface="Asap Bold"/>
                          <a:sym typeface="Asap Bold"/>
                        </a:rPr>
                        <a:t>Suggested</a:t>
                      </a:r>
                      <a:r>
                        <a:rPr lang="en-US" b="true" sz="2899">
                          <a:solidFill>
                            <a:srgbClr val="1C4E6B"/>
                          </a:solidFill>
                          <a:latin typeface="Asap Bold"/>
                          <a:ea typeface="Asap Bold"/>
                          <a:cs typeface="Asap Bold"/>
                          <a:sym typeface="Asap Bold"/>
                        </a:rPr>
                        <a:t> Tasks</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ctr">
                        <a:lnSpc>
                          <a:spcPts val="4059"/>
                        </a:lnSpc>
                        <a:defRPr/>
                      </a:pPr>
                      <a:r>
                        <a:rPr lang="en-US" sz="2899" b="true">
                          <a:solidFill>
                            <a:srgbClr val="1C4E6B"/>
                          </a:solidFill>
                          <a:latin typeface="Asap Bold"/>
                          <a:ea typeface="Asap Bold"/>
                          <a:cs typeface="Asap Bold"/>
                          <a:sym typeface="Asap Bold"/>
                        </a:rPr>
                        <a:t>Co</a:t>
                      </a:r>
                      <a:r>
                        <a:rPr lang="en-US" b="true" sz="2899">
                          <a:solidFill>
                            <a:srgbClr val="1C4E6B"/>
                          </a:solidFill>
                          <a:latin typeface="Asap Bold"/>
                          <a:ea typeface="Asap Bold"/>
                          <a:cs typeface="Asap Bold"/>
                          <a:sym typeface="Asap Bold"/>
                        </a:rPr>
                        <a:t>ntribution</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r>
              <a:tr h="2141532">
                <a:tc>
                  <a:txBody>
                    <a:bodyPr anchor="t" rtlCol="false"/>
                    <a:lstStyle/>
                    <a:p>
                      <a:pPr algn="ctr">
                        <a:lnSpc>
                          <a:spcPts val="4059"/>
                        </a:lnSpc>
                        <a:defRPr/>
                      </a:pPr>
                      <a:r>
                        <a:rPr lang="en-US" sz="2899">
                          <a:solidFill>
                            <a:srgbClr val="000000"/>
                          </a:solidFill>
                          <a:latin typeface="Asap"/>
                          <a:ea typeface="Asap"/>
                          <a:cs typeface="Asap"/>
                          <a:sym typeface="Asap"/>
                        </a:rPr>
                        <a:t>Bùi Trịnh Thế Viên</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just">
                        <a:lnSpc>
                          <a:spcPts val="3220"/>
                        </a:lnSpc>
                        <a:defRPr/>
                      </a:pPr>
                      <a:r>
                        <a:rPr lang="en-US" sz="2300">
                          <a:solidFill>
                            <a:srgbClr val="000000"/>
                          </a:solidFill>
                          <a:latin typeface="Asap"/>
                          <a:ea typeface="Asap"/>
                          <a:cs typeface="Asap"/>
                          <a:sym typeface="Asap"/>
                        </a:rPr>
                        <a:t>Write problem, introduction, and app concept, Develop web app and ESP32 WiFi communication,Test app → ESP32 → CAN command flow, Send control commands from app, Improve UI, Implement state machine, Finalize web app and demo, design PCB</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ctr">
                        <a:lnSpc>
                          <a:spcPts val="4059"/>
                        </a:lnSpc>
                        <a:defRPr/>
                      </a:pPr>
                      <a:r>
                        <a:rPr lang="en-US" sz="2899">
                          <a:solidFill>
                            <a:srgbClr val="000000"/>
                          </a:solidFill>
                          <a:latin typeface="Asap"/>
                          <a:ea typeface="Asap"/>
                          <a:cs typeface="Asap"/>
                          <a:sym typeface="Asap"/>
                        </a:rPr>
                        <a:t>25%</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r>
              <a:tr h="2071210">
                <a:tc>
                  <a:txBody>
                    <a:bodyPr anchor="t" rtlCol="false"/>
                    <a:lstStyle/>
                    <a:p>
                      <a:pPr algn="ctr">
                        <a:lnSpc>
                          <a:spcPts val="4059"/>
                        </a:lnSpc>
                        <a:defRPr/>
                      </a:pPr>
                      <a:r>
                        <a:rPr lang="en-US" sz="2899">
                          <a:solidFill>
                            <a:srgbClr val="000000"/>
                          </a:solidFill>
                          <a:latin typeface="Asap"/>
                          <a:ea typeface="Asap"/>
                          <a:cs typeface="Asap"/>
                          <a:sym typeface="Asap"/>
                        </a:rPr>
                        <a:t>Trần Đăng Bách</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l">
                        <a:lnSpc>
                          <a:spcPts val="3360"/>
                        </a:lnSpc>
                        <a:defRPr/>
                      </a:pPr>
                      <a:r>
                        <a:rPr lang="en-US" sz="2400">
                          <a:solidFill>
                            <a:srgbClr val="000000"/>
                          </a:solidFill>
                          <a:latin typeface="Asap"/>
                          <a:ea typeface="Asap"/>
                          <a:cs typeface="Asap"/>
                          <a:sym typeface="Asap"/>
                        </a:rPr>
                        <a:t>Research sensors and safety mechanism, Design obstacle detection logic, Test ultrasonic sensors, Support sensor testing and integration, Implement obstacle avoidance, Implement emergency stop, Perform safety testing  </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ctr">
                        <a:lnSpc>
                          <a:spcPts val="4059"/>
                        </a:lnSpc>
                        <a:defRPr/>
                      </a:pPr>
                      <a:r>
                        <a:rPr lang="en-US" sz="2899">
                          <a:solidFill>
                            <a:srgbClr val="000000"/>
                          </a:solidFill>
                          <a:latin typeface="Asap"/>
                          <a:ea typeface="Asap"/>
                          <a:cs typeface="Asap"/>
                          <a:sym typeface="Asap"/>
                        </a:rPr>
                        <a:t>25%</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r>
              <a:tr h="2151092">
                <a:tc>
                  <a:txBody>
                    <a:bodyPr anchor="t" rtlCol="false"/>
                    <a:lstStyle/>
                    <a:p>
                      <a:pPr algn="ctr">
                        <a:lnSpc>
                          <a:spcPts val="4059"/>
                        </a:lnSpc>
                        <a:defRPr/>
                      </a:pPr>
                      <a:r>
                        <a:rPr lang="en-US" sz="2899">
                          <a:solidFill>
                            <a:srgbClr val="000000"/>
                          </a:solidFill>
                          <a:latin typeface="Asap"/>
                          <a:ea typeface="Asap"/>
                          <a:cs typeface="Asap"/>
                          <a:sym typeface="Asap"/>
                        </a:rPr>
                        <a:t>Nguyễn Văn Quý</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just">
                        <a:lnSpc>
                          <a:spcPts val="3360"/>
                        </a:lnSpc>
                        <a:defRPr/>
                      </a:pPr>
                      <a:r>
                        <a:rPr lang="en-US" sz="2400">
                          <a:solidFill>
                            <a:srgbClr val="000000"/>
                          </a:solidFill>
                          <a:latin typeface="Asap"/>
                          <a:ea typeface="Asap"/>
                          <a:cs typeface="Asap"/>
                          <a:sym typeface="Asap"/>
                        </a:rPr>
                        <a:t>Design system architecture and motor selection, Design PID and motor control logic, Test motor PWM and encoder reading, Implement PID and test robot movement, Develop navigation and line following, Optimize motor control, Tune robot performance</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ctr">
                        <a:lnSpc>
                          <a:spcPts val="4059"/>
                        </a:lnSpc>
                        <a:defRPr/>
                      </a:pPr>
                      <a:r>
                        <a:rPr lang="en-US" sz="2899">
                          <a:solidFill>
                            <a:srgbClr val="000000"/>
                          </a:solidFill>
                          <a:latin typeface="Asap"/>
                          <a:ea typeface="Asap"/>
                          <a:cs typeface="Asap"/>
                          <a:sym typeface="Asap"/>
                        </a:rPr>
                        <a:t>25%</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r>
              <a:tr h="2127265">
                <a:tc>
                  <a:txBody>
                    <a:bodyPr anchor="t" rtlCol="false"/>
                    <a:lstStyle/>
                    <a:p>
                      <a:pPr algn="ctr">
                        <a:lnSpc>
                          <a:spcPts val="4059"/>
                        </a:lnSpc>
                        <a:defRPr/>
                      </a:pPr>
                      <a:r>
                        <a:rPr lang="en-US" sz="2899">
                          <a:solidFill>
                            <a:srgbClr val="000000"/>
                          </a:solidFill>
                          <a:latin typeface="Asap"/>
                          <a:ea typeface="Asap"/>
                          <a:cs typeface="Asap"/>
                          <a:sym typeface="Asap"/>
                        </a:rPr>
                        <a:t>Nguyễn Trọng Nhân</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just">
                        <a:lnSpc>
                          <a:spcPts val="3220"/>
                        </a:lnSpc>
                        <a:defRPr/>
                      </a:pPr>
                      <a:r>
                        <a:rPr lang="en-US" sz="2300">
                          <a:solidFill>
                            <a:srgbClr val="000000"/>
                          </a:solidFill>
                          <a:latin typeface="Asap"/>
                          <a:ea typeface="Asap"/>
                          <a:cs typeface="Asap"/>
                          <a:sym typeface="Asap"/>
                        </a:rPr>
                        <a:t>Prepare proposal slides and system overview, Design CAN communication and FreeRTOS tasks, Setup and debug CAN communication, Debug timing and system communication, Synchronize data between MCUs, Integrate full system (3 MCUs), Prepare report, slides, and video</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c>
                  <a:txBody>
                    <a:bodyPr anchor="t" rtlCol="false"/>
                    <a:lstStyle/>
                    <a:p>
                      <a:pPr algn="ctr">
                        <a:lnSpc>
                          <a:spcPts val="4059"/>
                        </a:lnSpc>
                        <a:defRPr/>
                      </a:pPr>
                      <a:r>
                        <a:rPr lang="en-US" sz="2899">
                          <a:solidFill>
                            <a:srgbClr val="000000"/>
                          </a:solidFill>
                          <a:latin typeface="Asap"/>
                          <a:ea typeface="Asap"/>
                          <a:cs typeface="Asap"/>
                          <a:sym typeface="Asap"/>
                        </a:rPr>
                        <a:t>25%</a:t>
                      </a:r>
                      <a:endParaRPr lang="en-US" sz="1100"/>
                    </a:p>
                  </a:txBody>
                  <a:tcPr marL="190500" marR="190500" marT="190500" marB="190500" anchor="ctr">
                    <a:lnL cmpd="sng" algn="ctr" cap="flat" w="38100">
                      <a:solidFill>
                        <a:srgbClr val="1C4E6B"/>
                      </a:solidFill>
                      <a:prstDash val="solid"/>
                      <a:round/>
                      <a:headEnd type="none" w="med" len="med"/>
                      <a:tailEnd type="none" w="med" len="med"/>
                    </a:lnL>
                    <a:lnR cmpd="sng" algn="ctr" cap="flat" w="38100">
                      <a:solidFill>
                        <a:srgbClr val="1C4E6B"/>
                      </a:solidFill>
                      <a:prstDash val="solid"/>
                      <a:round/>
                      <a:headEnd type="none" w="med" len="med"/>
                      <a:tailEnd type="none" w="med" len="med"/>
                    </a:lnR>
                    <a:lnT cmpd="sng" algn="ctr" cap="flat" w="38100">
                      <a:solidFill>
                        <a:srgbClr val="1C4E6B"/>
                      </a:solidFill>
                      <a:prstDash val="solid"/>
                      <a:round/>
                      <a:headEnd type="none" w="med" len="med"/>
                      <a:tailEnd type="none" w="med" len="med"/>
                    </a:lnT>
                    <a:lnB cmpd="sng" algn="ctr" cap="flat" w="38100">
                      <a:solidFill>
                        <a:srgbClr val="1C4E6B"/>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DAHE7TGS8lo</dc:identifier>
  <dcterms:modified xsi:type="dcterms:W3CDTF">2011-08-01T06:04:30Z</dcterms:modified>
  <cp:revision>1</cp:revision>
  <dc:title>Hệ thống nhúng - Nhóm 3</dc:title>
</cp:coreProperties>
</file>